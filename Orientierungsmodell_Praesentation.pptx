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0" r:id="rId2"/>
  </p:sldMasterIdLst>
  <p:notesMasterIdLst>
    <p:notesMasterId r:id="rId20"/>
  </p:notesMasterIdLst>
  <p:sldIdLst>
    <p:sldId id="1438" r:id="rId3"/>
    <p:sldId id="1437" r:id="rId4"/>
    <p:sldId id="1420" r:id="rId5"/>
    <p:sldId id="1436" r:id="rId6"/>
    <p:sldId id="1432" r:id="rId7"/>
    <p:sldId id="1439" r:id="rId8"/>
    <p:sldId id="1440" r:id="rId9"/>
    <p:sldId id="1441" r:id="rId10"/>
    <p:sldId id="266" r:id="rId11"/>
    <p:sldId id="707" r:id="rId12"/>
    <p:sldId id="709" r:id="rId13"/>
    <p:sldId id="710" r:id="rId14"/>
    <p:sldId id="711" r:id="rId15"/>
    <p:sldId id="1376" r:id="rId16"/>
    <p:sldId id="1442" r:id="rId17"/>
    <p:sldId id="1385" r:id="rId18"/>
    <p:sldId id="1421"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5A6F"/>
    <a:srgbClr val="1A161A"/>
    <a:srgbClr val="3A576C"/>
    <a:srgbClr val="312C32"/>
    <a:srgbClr val="30333B"/>
    <a:srgbClr val="2D28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1BE858-C567-44E1-A6CC-C0EBA63C9773}" type="datetimeFigureOut">
              <a:t>10.10.2026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374DC7-A3D0-4A7B-89FB-CCBE935286BA}" type="slidenum">
              <a:t>‹Nr.›</a:t>
            </a:fld>
            <a:endParaRPr lang="de-DE"/>
          </a:p>
        </p:txBody>
      </p:sp>
    </p:spTree>
    <p:extLst>
      <p:ext uri="{BB962C8B-B14F-4D97-AF65-F5344CB8AC3E}">
        <p14:creationId xmlns:p14="http://schemas.microsoft.com/office/powerpoint/2010/main" val="354753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62A71-3527-C7A4-AD72-27953D918AF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4DBC5F9-8CB6-0291-9DAF-78D6DFEF5BB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8ECAFF0-DC44-A02E-A93C-33CFAEC24631}"/>
              </a:ext>
            </a:extLst>
          </p:cNvPr>
          <p:cNvSpPr>
            <a:spLocks noGrp="1"/>
          </p:cNvSpPr>
          <p:nvPr>
            <p:ph type="body" idx="1"/>
          </p:nvPr>
        </p:nvSpPr>
        <p:spPr/>
        <p:txBody>
          <a:bodyPr/>
          <a:lstStyle/>
          <a:p>
            <a:endParaRPr lang="de-DE" dirty="0"/>
          </a:p>
        </p:txBody>
      </p:sp>
      <p:sp>
        <p:nvSpPr>
          <p:cNvPr id="4" name="Foliennummernplatzhalter 3">
            <a:extLst>
              <a:ext uri="{FF2B5EF4-FFF2-40B4-BE49-F238E27FC236}">
                <a16:creationId xmlns:a16="http://schemas.microsoft.com/office/drawing/2014/main" id="{3F76FFCC-C0BE-D1BC-BC16-B138A48283C4}"/>
              </a:ext>
            </a:extLst>
          </p:cNvPr>
          <p:cNvSpPr>
            <a:spLocks noGrp="1"/>
          </p:cNvSpPr>
          <p:nvPr>
            <p:ph type="sldNum" sz="quarter" idx="5"/>
          </p:nvPr>
        </p:nvSpPr>
        <p:spPr/>
        <p:txBody>
          <a:bodyPr/>
          <a:lstStyle/>
          <a:p>
            <a:fld id="{35374DC7-A3D0-4A7B-89FB-CCBE935286BA}" type="slidenum">
              <a:rPr lang="de-DE" smtClean="0"/>
              <a:t>2</a:t>
            </a:fld>
            <a:endParaRPr lang="de-DE"/>
          </a:p>
        </p:txBody>
      </p:sp>
    </p:spTree>
    <p:extLst>
      <p:ext uri="{BB962C8B-B14F-4D97-AF65-F5344CB8AC3E}">
        <p14:creationId xmlns:p14="http://schemas.microsoft.com/office/powerpoint/2010/main" val="31272616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ea typeface="Calibri"/>
                <a:cs typeface="Calibri"/>
              </a:rPr>
              <a:t>Kai</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374DC7-A3D0-4A7B-89FB-CCBE935286BA}" type="slidenum">
              <a:rPr kumimoji="0" lang="de-DE"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254768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defRPr/>
            </a:pPr>
            <a:r>
              <a:rPr lang="de-DE">
                <a:ea typeface="Calibri"/>
                <a:cs typeface="Calibri"/>
              </a:rPr>
              <a:t>Jakob</a:t>
            </a:r>
            <a:endParaRPr lang="de-DE"/>
          </a:p>
          <a:p>
            <a:pPr>
              <a:defRPr/>
            </a:pPr>
            <a:r>
              <a:rPr lang="de-DE"/>
              <a:t>Wer bin ich → Welche Kompetenzen im Kollegium? </a:t>
            </a:r>
            <a:br>
              <a:rPr lang="de-DE">
                <a:cs typeface="+mn-lt"/>
              </a:rPr>
            </a:br>
            <a:r>
              <a:rPr lang="de-DE"/>
              <a:t>Was kann ich tun → Welche Aufgabenformate testen wir? Was machen wir mit diesen Mitteln?</a:t>
            </a:r>
            <a:br>
              <a:rPr lang="de-DE">
                <a:cs typeface="+mn-lt"/>
              </a:rPr>
            </a:br>
            <a:r>
              <a:rPr lang="de-DE"/>
              <a:t>Wen kenne ich → Fachgruppen / Kooperation</a:t>
            </a:r>
          </a:p>
          <a:p>
            <a:endParaRPr lang="de-DE"/>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F189BA-873B-445A-A8AF-02D642E5E403}"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1288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ea typeface="Calibri"/>
                <a:cs typeface="Calibri"/>
              </a:rPr>
              <a:t>Jakob</a:t>
            </a:r>
          </a:p>
          <a:p>
            <a:r>
              <a:rPr lang="en-US">
                <a:ea typeface="Calibri"/>
                <a:cs typeface="Calibri"/>
              </a:rPr>
              <a:t>Schritt 2: </a:t>
            </a:r>
            <a:r>
              <a:rPr lang="en-US" err="1">
                <a:ea typeface="Calibri"/>
                <a:cs typeface="Calibri"/>
              </a:rPr>
              <a:t>Ziele</a:t>
            </a:r>
            <a:r>
              <a:rPr lang="en-US">
                <a:ea typeface="Calibri"/>
                <a:cs typeface="Calibri"/>
              </a:rPr>
              <a:t> </a:t>
            </a:r>
            <a:r>
              <a:rPr lang="en-US" err="1">
                <a:ea typeface="Calibri"/>
                <a:cs typeface="Calibri"/>
              </a:rPr>
              <a:t>definieren</a:t>
            </a:r>
          </a:p>
          <a:p>
            <a:r>
              <a:rPr lang="en-US">
                <a:ea typeface="Calibri"/>
                <a:cs typeface="Calibri"/>
              </a:rPr>
              <a:t>Affordable Loss</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374DC7-A3D0-4A7B-89FB-CCBE935286BA}" type="slidenum">
              <a:rPr kumimoji="0" lang="de-DE"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74651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ea typeface="Calibri"/>
                <a:cs typeface="Calibri"/>
              </a:rPr>
              <a:t>Jakob</a:t>
            </a:r>
          </a:p>
          <a:p>
            <a:r>
              <a:rPr lang="de-DE" err="1">
                <a:ea typeface="Calibri"/>
                <a:cs typeface="Calibri"/>
              </a:rPr>
              <a:t>Lemonade</a:t>
            </a:r>
            <a:r>
              <a:rPr lang="de-DE">
                <a:ea typeface="Calibri"/>
                <a:cs typeface="Calibri"/>
              </a:rPr>
              <a:t>-Prinzip</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F189BA-873B-445A-A8AF-02D642E5E403}"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5936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ea typeface="Calibri"/>
                <a:cs typeface="Calibri"/>
              </a:rPr>
              <a:t>Jakob</a:t>
            </a:r>
          </a:p>
          <a:p>
            <a:r>
              <a:rPr lang="de-DE">
                <a:ea typeface="Calibri"/>
                <a:cs typeface="Calibri"/>
              </a:rPr>
              <a:t>Schritt 3: Interaktion, Umsetzung</a:t>
            </a:r>
          </a:p>
          <a:p>
            <a:r>
              <a:rPr lang="de-DE">
                <a:ea typeface="Calibri"/>
                <a:cs typeface="Calibri"/>
              </a:rPr>
              <a:t>Crazy Quilt</a:t>
            </a:r>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F189BA-873B-445A-A8AF-02D642E5E403}"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7427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34398-DC28-67AC-1FBD-F245B542839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8C7AB44-93F7-7355-38BE-52B447EBFE5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199FB06-2130-DE76-E668-C046678BD330}"/>
              </a:ext>
            </a:extLst>
          </p:cNvPr>
          <p:cNvSpPr>
            <a:spLocks noGrp="1"/>
          </p:cNvSpPr>
          <p:nvPr>
            <p:ph type="body" idx="1"/>
          </p:nvPr>
        </p:nvSpPr>
        <p:spPr/>
        <p:txBody>
          <a:bodyPr/>
          <a:lstStyle/>
          <a:p>
            <a:pPr>
              <a:defRPr/>
            </a:pPr>
            <a:r>
              <a:rPr lang="de-DE">
                <a:ea typeface="Calibri"/>
                <a:cs typeface="Calibri"/>
              </a:rPr>
              <a:t>Kai</a:t>
            </a:r>
            <a:endParaRPr lang="de-DE"/>
          </a:p>
          <a:p>
            <a:pPr marL="0" marR="0" lvl="0" indent="0" algn="l" defTabSz="914400">
              <a:lnSpc>
                <a:spcPct val="100000"/>
              </a:lnSpc>
              <a:spcBef>
                <a:spcPts val="0"/>
              </a:spcBef>
              <a:spcAft>
                <a:spcPts val="0"/>
              </a:spcAft>
              <a:buClrTx/>
              <a:buSzTx/>
              <a:buFontTx/>
              <a:buNone/>
              <a:tabLst/>
              <a:defRPr/>
            </a:pPr>
            <a:r>
              <a:rPr lang="de-DE"/>
              <a:t>Statt </a:t>
            </a:r>
            <a:r>
              <a:rPr lang="de-DE" sz="1200">
                <a:latin typeface="Linux Biolinum"/>
                <a:ea typeface="Linux Biolinum" panose="02000503000000000000" pitchFamily="2" charset="0"/>
                <a:cs typeface="Linux Biolinum" panose="02000503000000000000" pitchFamily="2" charset="0"/>
              </a:rPr>
              <a:t>sofort die ganze Schule zu verändern:</a:t>
            </a:r>
            <a:br>
              <a:rPr lang="de-DE" sz="1200">
                <a:latin typeface="Linux Biolinum" panose="02000503000000000000" pitchFamily="2" charset="0"/>
                <a:ea typeface="Linux Biolinum" panose="02000503000000000000" pitchFamily="2" charset="0"/>
                <a:cs typeface="Linux Biolinum" panose="02000503000000000000" pitchFamily="2" charset="0"/>
              </a:rPr>
            </a:br>
            <a:r>
              <a:rPr lang="de-DE" sz="1200">
                <a:latin typeface="Linux Biolinum"/>
                <a:ea typeface="Linux Biolinum" panose="02000503000000000000" pitchFamily="2" charset="0"/>
                <a:cs typeface="Linux Biolinum" panose="02000503000000000000" pitchFamily="2" charset="0"/>
              </a:rPr>
              <a:t>kleine, gezielte Experimente starten</a:t>
            </a:r>
            <a:endParaRPr lang="de-DE">
              <a:latin typeface="Linux Biolinum"/>
              <a:ea typeface="Calibri"/>
              <a:cs typeface="Calibri"/>
            </a:endParaRPr>
          </a:p>
        </p:txBody>
      </p:sp>
      <p:sp>
        <p:nvSpPr>
          <p:cNvPr id="4" name="Foliennummernplatzhalter 3">
            <a:extLst>
              <a:ext uri="{FF2B5EF4-FFF2-40B4-BE49-F238E27FC236}">
                <a16:creationId xmlns:a16="http://schemas.microsoft.com/office/drawing/2014/main" id="{E7382DA3-B3C3-3A43-1418-17A79A2E3BE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F189BA-873B-445A-A8AF-02D642E5E403}"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5572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309B0-A30F-F046-1BAC-52CA919CF41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AB16C51-8D56-72F2-74FC-EE018300315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D9A1458-06BF-DFA0-0FBB-6F3DD4598C38}"/>
              </a:ext>
            </a:extLst>
          </p:cNvPr>
          <p:cNvSpPr>
            <a:spLocks noGrp="1"/>
          </p:cNvSpPr>
          <p:nvPr>
            <p:ph type="body" idx="1"/>
          </p:nvPr>
        </p:nvSpPr>
        <p:spPr/>
        <p:txBody>
          <a:bodyPr/>
          <a:lstStyle/>
          <a:p>
            <a:pPr>
              <a:defRPr/>
            </a:pPr>
            <a:r>
              <a:rPr lang="de-DE">
                <a:ea typeface="Calibri"/>
                <a:cs typeface="Calibri"/>
              </a:rPr>
              <a:t>Kai</a:t>
            </a:r>
            <a:endParaRPr lang="de-DE"/>
          </a:p>
          <a:p>
            <a:pPr marL="0" marR="0" lvl="0" indent="0" algn="l" defTabSz="914400">
              <a:lnSpc>
                <a:spcPct val="100000"/>
              </a:lnSpc>
              <a:spcBef>
                <a:spcPts val="0"/>
              </a:spcBef>
              <a:spcAft>
                <a:spcPts val="0"/>
              </a:spcAft>
              <a:buClrTx/>
              <a:buSzTx/>
              <a:buFontTx/>
              <a:buNone/>
              <a:tabLst/>
              <a:defRPr/>
            </a:pPr>
            <a:r>
              <a:rPr lang="de-DE"/>
              <a:t>Statt </a:t>
            </a:r>
            <a:r>
              <a:rPr lang="de-DE" sz="1200">
                <a:latin typeface="Linux Biolinum"/>
                <a:ea typeface="Linux Biolinum" panose="02000503000000000000" pitchFamily="2" charset="0"/>
                <a:cs typeface="Linux Biolinum" panose="02000503000000000000" pitchFamily="2" charset="0"/>
              </a:rPr>
              <a:t>sofort die ganze Schule zu verändern:</a:t>
            </a:r>
            <a:br>
              <a:rPr lang="de-DE" sz="1200">
                <a:latin typeface="Linux Biolinum" panose="02000503000000000000" pitchFamily="2" charset="0"/>
                <a:ea typeface="Linux Biolinum" panose="02000503000000000000" pitchFamily="2" charset="0"/>
                <a:cs typeface="Linux Biolinum" panose="02000503000000000000" pitchFamily="2" charset="0"/>
              </a:rPr>
            </a:br>
            <a:r>
              <a:rPr lang="de-DE" sz="1200">
                <a:latin typeface="Linux Biolinum"/>
                <a:ea typeface="Linux Biolinum" panose="02000503000000000000" pitchFamily="2" charset="0"/>
                <a:cs typeface="Linux Biolinum" panose="02000503000000000000" pitchFamily="2" charset="0"/>
              </a:rPr>
              <a:t>kleine, gezielte Experimente starten</a:t>
            </a:r>
            <a:endParaRPr lang="de-DE">
              <a:latin typeface="Linux Biolinum"/>
              <a:ea typeface="Calibri"/>
              <a:cs typeface="Calibri"/>
            </a:endParaRPr>
          </a:p>
        </p:txBody>
      </p:sp>
      <p:sp>
        <p:nvSpPr>
          <p:cNvPr id="4" name="Foliennummernplatzhalter 3">
            <a:extLst>
              <a:ext uri="{FF2B5EF4-FFF2-40B4-BE49-F238E27FC236}">
                <a16:creationId xmlns:a16="http://schemas.microsoft.com/office/drawing/2014/main" id="{A3514469-2DBA-0D1E-4AD8-A5AFD8939B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F189BA-873B-445A-A8AF-02D642E5E403}"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1391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atin typeface="+mj-lt"/>
              </a:defRPr>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C2F93DE5-1B54-40DF-BA16-83ABB02D28EE}" type="datetimeFigureOut">
              <a:rPr lang="de-DE" smtClean="0"/>
              <a:t>10.10.2026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53E1727B-6967-4BFE-9540-9DEF75E1326D}" type="slidenum">
              <a:rPr lang="de-DE" smtClean="0"/>
              <a:t>‹Nr.›</a:t>
            </a:fld>
            <a:endParaRPr lang="de-DE"/>
          </a:p>
        </p:txBody>
      </p:sp>
      <p:grpSp>
        <p:nvGrpSpPr>
          <p:cNvPr id="12" name="Gruppieren 11"/>
          <p:cNvGrpSpPr/>
          <p:nvPr userDrawn="1"/>
        </p:nvGrpSpPr>
        <p:grpSpPr>
          <a:xfrm>
            <a:off x="0" y="-50799"/>
            <a:ext cx="12338639" cy="1119142"/>
            <a:chOff x="0" y="-50799"/>
            <a:chExt cx="12338639" cy="1119142"/>
          </a:xfrm>
        </p:grpSpPr>
        <p:sp>
          <p:nvSpPr>
            <p:cNvPr id="8" name="Rechteck 7"/>
            <p:cNvSpPr/>
            <p:nvPr userDrawn="1"/>
          </p:nvSpPr>
          <p:spPr>
            <a:xfrm>
              <a:off x="0" y="0"/>
              <a:ext cx="12192000" cy="1012920"/>
            </a:xfrm>
            <a:prstGeom prst="rect">
              <a:avLst/>
            </a:prstGeom>
            <a:gradFill flip="none" rotWithShape="1">
              <a:gsLst>
                <a:gs pos="0">
                  <a:srgbClr val="3A5A6F">
                    <a:shade val="30000"/>
                    <a:satMod val="115000"/>
                  </a:srgbClr>
                </a:gs>
                <a:gs pos="50000">
                  <a:srgbClr val="3A5A6F">
                    <a:shade val="67500"/>
                    <a:satMod val="115000"/>
                  </a:srgbClr>
                </a:gs>
                <a:gs pos="100000">
                  <a:srgbClr val="3A5A6F">
                    <a:shade val="100000"/>
                    <a:satMod val="115000"/>
                  </a:srgbClr>
                </a:gs>
              </a:gsLst>
              <a:path path="circle">
                <a:fillToRect t="100000" r="100000"/>
              </a:path>
              <a:tileRect l="-100000" b="-100000"/>
            </a:gra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marL="177800" lvl="0" indent="0" algn="l"/>
              <a:r>
                <a:rPr lang="de-DE" sz="4000">
                  <a:latin typeface="+mj-lt"/>
                </a:rPr>
                <a:t>Bildung in der digitalen</a:t>
              </a:r>
              <a:r>
                <a:rPr lang="de-DE" sz="4000" baseline="0">
                  <a:latin typeface="+mj-lt"/>
                </a:rPr>
                <a:t> Welt</a:t>
              </a:r>
              <a:endParaRPr lang="de-DE" sz="4000">
                <a:latin typeface="+mj-lt"/>
              </a:endParaRPr>
            </a:p>
          </p:txBody>
        </p:sp>
        <p:pic>
          <p:nvPicPr>
            <p:cNvPr id="11" name="Grafik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1" t="14363" r="-2364" b="-1576"/>
            <a:stretch/>
          </p:blipFill>
          <p:spPr>
            <a:xfrm>
              <a:off x="9309523" y="-50799"/>
              <a:ext cx="3029116" cy="1119142"/>
            </a:xfrm>
            <a:prstGeom prst="rect">
              <a:avLst/>
            </a:prstGeom>
            <a:ln>
              <a:noFill/>
            </a:ln>
            <a:effectLst>
              <a:softEdge rad="63500"/>
            </a:effectLst>
          </p:spPr>
        </p:pic>
      </p:grpSp>
    </p:spTree>
    <p:extLst>
      <p:ext uri="{BB962C8B-B14F-4D97-AF65-F5344CB8AC3E}">
        <p14:creationId xmlns:p14="http://schemas.microsoft.com/office/powerpoint/2010/main" val="3604153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C2F93DE5-1B54-40DF-BA16-83ABB02D28EE}" type="datetimeFigureOut">
              <a:rPr lang="de-DE" smtClean="0"/>
              <a:t>10.10.2026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2519376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C2F93DE5-1B54-40DF-BA16-83ABB02D28EE}" type="datetimeFigureOut">
              <a:rPr lang="de-DE" smtClean="0"/>
              <a:t>10.10.2026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600646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a:xfrm>
            <a:off x="838200" y="1344706"/>
            <a:ext cx="10515600" cy="1097133"/>
          </a:xfrm>
        </p:spPr>
        <p:txBody>
          <a:bodyPr/>
          <a:lstStyle/>
          <a:p>
            <a:r>
              <a:rPr lang="de-DE"/>
              <a:t>Titelmasterformat durch Klicken bearbeiten</a:t>
            </a:r>
          </a:p>
        </p:txBody>
      </p:sp>
      <p:sp>
        <p:nvSpPr>
          <p:cNvPr id="3" name="Inhaltsplatzhalter 2"/>
          <p:cNvSpPr>
            <a:spLocks noGrp="1"/>
          </p:cNvSpPr>
          <p:nvPr>
            <p:ph sz="half" idx="1"/>
          </p:nvPr>
        </p:nvSpPr>
        <p:spPr>
          <a:xfrm>
            <a:off x="838200" y="2689411"/>
            <a:ext cx="5181600" cy="3487551"/>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2689411"/>
            <a:ext cx="5181600" cy="3487552"/>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C2F93DE5-1B54-40DF-BA16-83ABB02D28EE}" type="datetimeFigureOut">
              <a:rPr lang="de-DE" smtClean="0"/>
              <a:t>10.10.2026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8917963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27087" y="1196299"/>
            <a:ext cx="10515600" cy="1035913"/>
          </a:xfrm>
        </p:spPr>
        <p:txBody>
          <a:bodyPr/>
          <a:lstStyle/>
          <a:p>
            <a:r>
              <a:rPr lang="de-DE"/>
              <a:t>Titelmasterformat durch Klicken bearbeiten</a:t>
            </a:r>
          </a:p>
        </p:txBody>
      </p:sp>
      <p:sp>
        <p:nvSpPr>
          <p:cNvPr id="3" name="Textplatzhalter 2"/>
          <p:cNvSpPr>
            <a:spLocks noGrp="1"/>
          </p:cNvSpPr>
          <p:nvPr>
            <p:ph type="body" idx="1"/>
          </p:nvPr>
        </p:nvSpPr>
        <p:spPr>
          <a:xfrm>
            <a:off x="839788" y="2398899"/>
            <a:ext cx="5157787" cy="81578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3388659"/>
            <a:ext cx="5157787" cy="2801004"/>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59499" y="237102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3388659"/>
            <a:ext cx="5183188" cy="2801004"/>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C2F93DE5-1B54-40DF-BA16-83ABB02D28EE}" type="datetimeFigureOut">
              <a:rPr lang="de-DE" smtClean="0"/>
              <a:t>10.10.2026</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2765646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C2F93DE5-1B54-40DF-BA16-83ABB02D28EE}" type="datetimeFigureOut">
              <a:rPr lang="de-DE" smtClean="0"/>
              <a:t>10.10.2026</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2512213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2F93DE5-1B54-40DF-BA16-83ABB02D28EE}" type="datetimeFigureOut">
              <a:rPr lang="de-DE" smtClean="0"/>
              <a:t>10.10.2026</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28068586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7" y="115318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1153180"/>
            <a:ext cx="6172200" cy="470787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9" y="2913529"/>
            <a:ext cx="3932236" cy="295545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C2F93DE5-1B54-40DF-BA16-83ABB02D28EE}" type="datetimeFigureOut">
              <a:rPr lang="de-DE" smtClean="0"/>
              <a:t>10.10.2026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35387900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1173256"/>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1173256"/>
            <a:ext cx="6172200" cy="468779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3021106"/>
            <a:ext cx="3932237" cy="28478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C2F93DE5-1B54-40DF-BA16-83ABB02D28EE}" type="datetimeFigureOut">
              <a:rPr lang="de-DE" smtClean="0"/>
              <a:t>10.10.2026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3050144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C2F93DE5-1B54-40DF-BA16-83ABB02D28EE}" type="datetimeFigureOut">
              <a:rPr lang="de-DE" smtClean="0"/>
              <a:t>10.10.2026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1221283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1219199"/>
            <a:ext cx="2628900" cy="4957764"/>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1219199"/>
            <a:ext cx="7734300" cy="4957763"/>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C2F93DE5-1B54-40DF-BA16-83ABB02D28EE}" type="datetimeFigureOut">
              <a:rPr lang="de-DE" smtClean="0"/>
              <a:t>10.10.2026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53E1727B-6967-4BFE-9540-9DEF75E1326D}" type="slidenum">
              <a:rPr lang="de-DE" smtClean="0"/>
              <a:t>‹Nr.›</a:t>
            </a:fld>
            <a:endParaRPr lang="de-DE"/>
          </a:p>
        </p:txBody>
      </p:sp>
    </p:spTree>
    <p:extLst>
      <p:ext uri="{BB962C8B-B14F-4D97-AF65-F5344CB8AC3E}">
        <p14:creationId xmlns:p14="http://schemas.microsoft.com/office/powerpoint/2010/main" val="2142831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8FA7D11-D231-3DD8-07B9-A39D4B9EE48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6121D43C-2BF4-4E47-3FB5-4CDBE84C812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00673306-0E55-5409-17A7-7682A1C5033F}"/>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5" name="Fußzeilenplatzhalter 4">
            <a:extLst>
              <a:ext uri="{FF2B5EF4-FFF2-40B4-BE49-F238E27FC236}">
                <a16:creationId xmlns:a16="http://schemas.microsoft.com/office/drawing/2014/main" id="{977DF713-38AC-E225-2E32-1F77A4BF5FE1}"/>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6" name="Foliennummernplatzhalter 5">
            <a:extLst>
              <a:ext uri="{FF2B5EF4-FFF2-40B4-BE49-F238E27FC236}">
                <a16:creationId xmlns:a16="http://schemas.microsoft.com/office/drawing/2014/main" id="{CC42A5C5-74BA-717E-468F-1BE422B69D19}"/>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3869335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38FB2B9-BC75-21C5-AEB4-D7181A3BB9C5}"/>
              </a:ext>
            </a:extLst>
          </p:cNvPr>
          <p:cNvSpPr>
            <a:spLocks noGrp="1"/>
          </p:cNvSpPr>
          <p:nvPr>
            <p:ph type="title"/>
          </p:nvPr>
        </p:nvSpPr>
        <p:spPr>
          <a:xfrm>
            <a:off x="838200" y="365125"/>
            <a:ext cx="10515600" cy="1325563"/>
          </a:xfrm>
          <a:prstGeom prst="rect">
            <a:avLst/>
          </a:prstGeom>
        </p:spPr>
        <p:txBody>
          <a:bodyPr/>
          <a:lstStyle/>
          <a:p>
            <a:r>
              <a:rPr lang="de-DE"/>
              <a:t>Mastertitelformat bearbeiten</a:t>
            </a:r>
          </a:p>
        </p:txBody>
      </p:sp>
      <p:sp>
        <p:nvSpPr>
          <p:cNvPr id="3" name="Inhaltsplatzhalter 2">
            <a:extLst>
              <a:ext uri="{FF2B5EF4-FFF2-40B4-BE49-F238E27FC236}">
                <a16:creationId xmlns:a16="http://schemas.microsoft.com/office/drawing/2014/main" id="{D41F2E4B-BBFE-B169-0D83-F0D8FBF37135}"/>
              </a:ext>
            </a:extLst>
          </p:cNvPr>
          <p:cNvSpPr>
            <a:spLocks noGrp="1"/>
          </p:cNvSpPr>
          <p:nvPr>
            <p:ph idx="1"/>
          </p:nvPr>
        </p:nvSpPr>
        <p:spPr>
          <a:xfrm>
            <a:off x="838200" y="1825625"/>
            <a:ext cx="10515600" cy="435133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A5AA0A1-9711-C200-215E-1C300B96BAF1}"/>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5" name="Fußzeilenplatzhalter 4">
            <a:extLst>
              <a:ext uri="{FF2B5EF4-FFF2-40B4-BE49-F238E27FC236}">
                <a16:creationId xmlns:a16="http://schemas.microsoft.com/office/drawing/2014/main" id="{093BA385-48CA-88E0-6F52-A9AABC53A864}"/>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6" name="Foliennummernplatzhalter 5">
            <a:extLst>
              <a:ext uri="{FF2B5EF4-FFF2-40B4-BE49-F238E27FC236}">
                <a16:creationId xmlns:a16="http://schemas.microsoft.com/office/drawing/2014/main" id="{041DED6D-65A0-829B-E157-446E3A1D1E50}"/>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994028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3D0522-E604-BEEF-1893-69A8DA3C1483}"/>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7389D7C8-55D4-F881-B8FA-0C1BBC5FBE66}"/>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F0A3FCC-6B7D-DB0E-34B1-494E8FFEE4DF}"/>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5" name="Fußzeilenplatzhalter 4">
            <a:extLst>
              <a:ext uri="{FF2B5EF4-FFF2-40B4-BE49-F238E27FC236}">
                <a16:creationId xmlns:a16="http://schemas.microsoft.com/office/drawing/2014/main" id="{F8080517-2A3D-639D-61E2-2FF6B60DE454}"/>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6" name="Foliennummernplatzhalter 5">
            <a:extLst>
              <a:ext uri="{FF2B5EF4-FFF2-40B4-BE49-F238E27FC236}">
                <a16:creationId xmlns:a16="http://schemas.microsoft.com/office/drawing/2014/main" id="{F45B242C-D31A-6340-34F8-4B02E75D73DB}"/>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17081616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ADAED8-1B22-3D15-7CDB-7B0C82706164}"/>
              </a:ext>
            </a:extLst>
          </p:cNvPr>
          <p:cNvSpPr>
            <a:spLocks noGrp="1"/>
          </p:cNvSpPr>
          <p:nvPr>
            <p:ph type="title"/>
          </p:nvPr>
        </p:nvSpPr>
        <p:spPr>
          <a:xfrm>
            <a:off x="838200" y="365125"/>
            <a:ext cx="10515600" cy="1325563"/>
          </a:xfrm>
          <a:prstGeom prst="rect">
            <a:avLst/>
          </a:prstGeom>
        </p:spPr>
        <p:txBody>
          <a:bodyPr/>
          <a:lstStyle/>
          <a:p>
            <a:r>
              <a:rPr lang="de-DE"/>
              <a:t>Mastertitelformat bearbeiten</a:t>
            </a:r>
          </a:p>
        </p:txBody>
      </p:sp>
      <p:sp>
        <p:nvSpPr>
          <p:cNvPr id="3" name="Inhaltsplatzhalter 2">
            <a:extLst>
              <a:ext uri="{FF2B5EF4-FFF2-40B4-BE49-F238E27FC236}">
                <a16:creationId xmlns:a16="http://schemas.microsoft.com/office/drawing/2014/main" id="{44A18B82-65B2-4459-AC38-6AA47E60E09A}"/>
              </a:ext>
            </a:extLst>
          </p:cNvPr>
          <p:cNvSpPr>
            <a:spLocks noGrp="1"/>
          </p:cNvSpPr>
          <p:nvPr>
            <p:ph sz="half" idx="1"/>
          </p:nvPr>
        </p:nvSpPr>
        <p:spPr>
          <a:xfrm>
            <a:off x="838200" y="1825625"/>
            <a:ext cx="5181600" cy="435133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C32135C9-2904-DE94-B541-2BC97ACE1403}"/>
              </a:ext>
            </a:extLst>
          </p:cNvPr>
          <p:cNvSpPr>
            <a:spLocks noGrp="1"/>
          </p:cNvSpPr>
          <p:nvPr>
            <p:ph sz="half" idx="2"/>
          </p:nvPr>
        </p:nvSpPr>
        <p:spPr>
          <a:xfrm>
            <a:off x="6172200" y="1825625"/>
            <a:ext cx="5181600" cy="435133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2A7C4947-524C-BF6A-5BF3-B0E9F77AD17C}"/>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6" name="Fußzeilenplatzhalter 5">
            <a:extLst>
              <a:ext uri="{FF2B5EF4-FFF2-40B4-BE49-F238E27FC236}">
                <a16:creationId xmlns:a16="http://schemas.microsoft.com/office/drawing/2014/main" id="{40F542AE-90CA-9AA3-C9BF-CB6686ADD7BB}"/>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7" name="Foliennummernplatzhalter 6">
            <a:extLst>
              <a:ext uri="{FF2B5EF4-FFF2-40B4-BE49-F238E27FC236}">
                <a16:creationId xmlns:a16="http://schemas.microsoft.com/office/drawing/2014/main" id="{BAF547BB-EA85-B0F0-FC53-6B2813E2E5C3}"/>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12331517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3ED8EE-C993-959E-B4BE-686AFFF7A751}"/>
              </a:ext>
            </a:extLst>
          </p:cNvPr>
          <p:cNvSpPr>
            <a:spLocks noGrp="1"/>
          </p:cNvSpPr>
          <p:nvPr>
            <p:ph type="title"/>
          </p:nvPr>
        </p:nvSpPr>
        <p:spPr>
          <a:xfrm>
            <a:off x="839788" y="365125"/>
            <a:ext cx="10515600" cy="1325563"/>
          </a:xfrm>
          <a:prstGeom prst="rect">
            <a:avLst/>
          </a:prstGeom>
        </p:spPr>
        <p:txBody>
          <a:bodyPr/>
          <a:lstStyle/>
          <a:p>
            <a:r>
              <a:rPr lang="de-DE"/>
              <a:t>Mastertitelformat bearbeiten</a:t>
            </a:r>
          </a:p>
        </p:txBody>
      </p:sp>
      <p:sp>
        <p:nvSpPr>
          <p:cNvPr id="3" name="Textplatzhalter 2">
            <a:extLst>
              <a:ext uri="{FF2B5EF4-FFF2-40B4-BE49-F238E27FC236}">
                <a16:creationId xmlns:a16="http://schemas.microsoft.com/office/drawing/2014/main" id="{A01C0CA3-1368-E5A6-A1A0-20A8F27B8936}"/>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92BF8B08-4E21-3E34-935E-61BF31300350}"/>
              </a:ext>
            </a:extLst>
          </p:cNvPr>
          <p:cNvSpPr>
            <a:spLocks noGrp="1"/>
          </p:cNvSpPr>
          <p:nvPr>
            <p:ph sz="half" idx="2"/>
          </p:nvPr>
        </p:nvSpPr>
        <p:spPr>
          <a:xfrm>
            <a:off x="839788" y="2505075"/>
            <a:ext cx="5157787" cy="368458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8CA0DB2C-BFCA-3CE1-E905-FABAC0B3FED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F960ED2-7177-6B10-E3D3-33B841D36B7A}"/>
              </a:ext>
            </a:extLst>
          </p:cNvPr>
          <p:cNvSpPr>
            <a:spLocks noGrp="1"/>
          </p:cNvSpPr>
          <p:nvPr>
            <p:ph sz="quarter" idx="4"/>
          </p:nvPr>
        </p:nvSpPr>
        <p:spPr>
          <a:xfrm>
            <a:off x="6172200" y="2505075"/>
            <a:ext cx="5183188" cy="3684588"/>
          </a:xfrm>
          <a:prstGeom prst="rect">
            <a:avLst/>
          </a:prstGeo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66292B8E-B27E-A454-0F80-A9BCDCAB3881}"/>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8" name="Fußzeilenplatzhalter 7">
            <a:extLst>
              <a:ext uri="{FF2B5EF4-FFF2-40B4-BE49-F238E27FC236}">
                <a16:creationId xmlns:a16="http://schemas.microsoft.com/office/drawing/2014/main" id="{0E5A7C1F-EAD6-440F-B6BD-F78AC3D1EDCF}"/>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9" name="Foliennummernplatzhalter 8">
            <a:extLst>
              <a:ext uri="{FF2B5EF4-FFF2-40B4-BE49-F238E27FC236}">
                <a16:creationId xmlns:a16="http://schemas.microsoft.com/office/drawing/2014/main" id="{056259E2-3399-05CD-1C36-8CFA2DB57A47}"/>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15139426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B4B6550-4E03-5C20-20BD-8B2FF82DEA32}"/>
              </a:ext>
            </a:extLst>
          </p:cNvPr>
          <p:cNvSpPr>
            <a:spLocks noGrp="1"/>
          </p:cNvSpPr>
          <p:nvPr>
            <p:ph type="title"/>
          </p:nvPr>
        </p:nvSpPr>
        <p:spPr>
          <a:xfrm>
            <a:off x="838200" y="365125"/>
            <a:ext cx="10515600" cy="1325563"/>
          </a:xfrm>
          <a:prstGeom prst="rect">
            <a:avLst/>
          </a:prstGeom>
        </p:spPr>
        <p:txBody>
          <a:bodyPr/>
          <a:lstStyle/>
          <a:p>
            <a:r>
              <a:rPr lang="de-DE"/>
              <a:t>Mastertitelformat bearbeiten</a:t>
            </a:r>
          </a:p>
        </p:txBody>
      </p:sp>
      <p:sp>
        <p:nvSpPr>
          <p:cNvPr id="3" name="Datumsplatzhalter 2">
            <a:extLst>
              <a:ext uri="{FF2B5EF4-FFF2-40B4-BE49-F238E27FC236}">
                <a16:creationId xmlns:a16="http://schemas.microsoft.com/office/drawing/2014/main" id="{C6ED9F76-E045-EAB6-F662-49E4D1BA757C}"/>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4" name="Fußzeilenplatzhalter 3">
            <a:extLst>
              <a:ext uri="{FF2B5EF4-FFF2-40B4-BE49-F238E27FC236}">
                <a16:creationId xmlns:a16="http://schemas.microsoft.com/office/drawing/2014/main" id="{FC09C26E-21F2-546B-C614-782FC8A07D1D}"/>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5" name="Foliennummernplatzhalter 4">
            <a:extLst>
              <a:ext uri="{FF2B5EF4-FFF2-40B4-BE49-F238E27FC236}">
                <a16:creationId xmlns:a16="http://schemas.microsoft.com/office/drawing/2014/main" id="{48C3720D-3902-4907-0B71-7D0773056506}"/>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7871333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E7600889-B815-6312-B753-4566B30E6B61}"/>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3" name="Fußzeilenplatzhalter 2">
            <a:extLst>
              <a:ext uri="{FF2B5EF4-FFF2-40B4-BE49-F238E27FC236}">
                <a16:creationId xmlns:a16="http://schemas.microsoft.com/office/drawing/2014/main" id="{45CF1C1B-7048-2E69-1804-DE847698754E}"/>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927DEE82-7DBE-2E0A-72F2-6F2064111B23}"/>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10202280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C0F383-BD7A-F038-8359-034B50BE249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5EC81F44-791D-6C53-A2CA-14BE76F1C63C}"/>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B8AE9BE-B0D2-0BD1-DD4A-B63566A5F1F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B72FC2C-4B37-2F15-7E98-0C7331E38DDA}"/>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6" name="Fußzeilenplatzhalter 5">
            <a:extLst>
              <a:ext uri="{FF2B5EF4-FFF2-40B4-BE49-F238E27FC236}">
                <a16:creationId xmlns:a16="http://schemas.microsoft.com/office/drawing/2014/main" id="{2C21690B-B966-24EC-A8B3-31256EF4846E}"/>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7" name="Foliennummernplatzhalter 6">
            <a:extLst>
              <a:ext uri="{FF2B5EF4-FFF2-40B4-BE49-F238E27FC236}">
                <a16:creationId xmlns:a16="http://schemas.microsoft.com/office/drawing/2014/main" id="{527A1A82-15F9-9B16-64C4-E46681E76AD3}"/>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68332778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AACA90-6FB7-2C1D-1BBD-B3BBB0F1FAD0}"/>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84C59369-56EB-30AA-F796-F70100F592A0}"/>
              </a:ext>
            </a:extLst>
          </p:cNvPr>
          <p:cNvSpPr>
            <a:spLocks noGrp="1" noChangeAspect="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E5416EA7-F575-463A-2702-DADC1D2D06C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8981E72-732E-87AA-D9D8-B617DF06FD02}"/>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6" name="Fußzeilenplatzhalter 5">
            <a:extLst>
              <a:ext uri="{FF2B5EF4-FFF2-40B4-BE49-F238E27FC236}">
                <a16:creationId xmlns:a16="http://schemas.microsoft.com/office/drawing/2014/main" id="{D9F1F6C6-1FD6-5F49-2C73-B22DAB98AF84}"/>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7" name="Foliennummernplatzhalter 6">
            <a:extLst>
              <a:ext uri="{FF2B5EF4-FFF2-40B4-BE49-F238E27FC236}">
                <a16:creationId xmlns:a16="http://schemas.microsoft.com/office/drawing/2014/main" id="{DC8BB164-CCB6-ED26-9048-CFE4F83A8D8B}"/>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17293101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E132B-52FA-B0C8-E585-98526BD8719E}"/>
              </a:ext>
            </a:extLst>
          </p:cNvPr>
          <p:cNvSpPr>
            <a:spLocks noGrp="1"/>
          </p:cNvSpPr>
          <p:nvPr>
            <p:ph type="title"/>
          </p:nvPr>
        </p:nvSpPr>
        <p:spPr>
          <a:xfrm>
            <a:off x="838200" y="365125"/>
            <a:ext cx="10515600" cy="1325563"/>
          </a:xfrm>
          <a:prstGeom prst="rect">
            <a:avLst/>
          </a:prstGeom>
        </p:spPr>
        <p:txBody>
          <a:bodyPr/>
          <a:lstStyle/>
          <a:p>
            <a:r>
              <a:rPr lang="de-DE"/>
              <a:t>Mastertitelformat bearbeiten</a:t>
            </a:r>
          </a:p>
        </p:txBody>
      </p:sp>
      <p:sp>
        <p:nvSpPr>
          <p:cNvPr id="3" name="Vertikaler Textplatzhalter 2">
            <a:extLst>
              <a:ext uri="{FF2B5EF4-FFF2-40B4-BE49-F238E27FC236}">
                <a16:creationId xmlns:a16="http://schemas.microsoft.com/office/drawing/2014/main" id="{D3FD55A8-3281-4C4B-DDBF-091CEECA7ADD}"/>
              </a:ext>
            </a:extLst>
          </p:cNvPr>
          <p:cNvSpPr>
            <a:spLocks noGrp="1"/>
          </p:cNvSpPr>
          <p:nvPr>
            <p:ph type="body" orient="vert" idx="1"/>
          </p:nvPr>
        </p:nvSpPr>
        <p:spPr>
          <a:xfrm>
            <a:off x="838200" y="1825625"/>
            <a:ext cx="10515600" cy="4351338"/>
          </a:xfrm>
          <a:prstGeom prst="rect">
            <a:avLst/>
          </a:prstGeo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5A920A38-2863-B5D6-F380-698D943B9454}"/>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5" name="Fußzeilenplatzhalter 4">
            <a:extLst>
              <a:ext uri="{FF2B5EF4-FFF2-40B4-BE49-F238E27FC236}">
                <a16:creationId xmlns:a16="http://schemas.microsoft.com/office/drawing/2014/main" id="{30AA834D-65A2-7CDF-30F7-F302D66BB0F2}"/>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6" name="Foliennummernplatzhalter 5">
            <a:extLst>
              <a:ext uri="{FF2B5EF4-FFF2-40B4-BE49-F238E27FC236}">
                <a16:creationId xmlns:a16="http://schemas.microsoft.com/office/drawing/2014/main" id="{2397F87F-CDCB-B2DF-1349-9AA530712BC5}"/>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21898361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E4ACB7E-748E-6EFD-514B-3B3FA2E5DBFD}"/>
              </a:ext>
            </a:extLst>
          </p:cNvPr>
          <p:cNvSpPr>
            <a:spLocks noGrp="1"/>
          </p:cNvSpPr>
          <p:nvPr>
            <p:ph type="title" orient="vert"/>
          </p:nvPr>
        </p:nvSpPr>
        <p:spPr>
          <a:xfrm>
            <a:off x="8724900" y="365125"/>
            <a:ext cx="2628900" cy="5811838"/>
          </a:xfrm>
          <a:prstGeom prst="rect">
            <a:avLst/>
          </a:prstGeo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8FC6E2E5-37B3-7E81-549C-24A927E96813}"/>
              </a:ext>
            </a:extLst>
          </p:cNvPr>
          <p:cNvSpPr>
            <a:spLocks noGrp="1"/>
          </p:cNvSpPr>
          <p:nvPr>
            <p:ph type="body" orient="vert" idx="1"/>
          </p:nvPr>
        </p:nvSpPr>
        <p:spPr>
          <a:xfrm>
            <a:off x="838200" y="365125"/>
            <a:ext cx="7734300" cy="5811838"/>
          </a:xfrm>
          <a:prstGeom prst="rect">
            <a:avLst/>
          </a:prstGeo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17E8650-AE2D-9FA8-21D9-044714003261}"/>
              </a:ext>
            </a:extLst>
          </p:cNvPr>
          <p:cNvSpPr>
            <a:spLocks noGrp="1"/>
          </p:cNvSpPr>
          <p:nvPr>
            <p:ph type="dt" sz="half" idx="10"/>
          </p:nvPr>
        </p:nvSpPr>
        <p:spPr>
          <a:xfrm>
            <a:off x="838200" y="6356350"/>
            <a:ext cx="2743200" cy="365125"/>
          </a:xfrm>
          <a:prstGeom prst="rect">
            <a:avLst/>
          </a:prstGeom>
        </p:spPr>
        <p:txBody>
          <a:bodyPr/>
          <a:lstStyle/>
          <a:p>
            <a:fld id="{3EA775B3-C1CA-458C-95A0-524CFBED8942}" type="datetimeFigureOut">
              <a:rPr lang="de-DE" smtClean="0"/>
              <a:t>10.10.2026</a:t>
            </a:fld>
            <a:endParaRPr lang="de-DE"/>
          </a:p>
        </p:txBody>
      </p:sp>
      <p:sp>
        <p:nvSpPr>
          <p:cNvPr id="5" name="Fußzeilenplatzhalter 4">
            <a:extLst>
              <a:ext uri="{FF2B5EF4-FFF2-40B4-BE49-F238E27FC236}">
                <a16:creationId xmlns:a16="http://schemas.microsoft.com/office/drawing/2014/main" id="{B419866B-F265-B016-9249-838D1F7278DF}"/>
              </a:ext>
            </a:extLst>
          </p:cNvPr>
          <p:cNvSpPr>
            <a:spLocks noGrp="1"/>
          </p:cNvSpPr>
          <p:nvPr>
            <p:ph type="ftr" sz="quarter" idx="11"/>
          </p:nvPr>
        </p:nvSpPr>
        <p:spPr>
          <a:xfrm>
            <a:off x="4038600" y="6356350"/>
            <a:ext cx="4114800" cy="365125"/>
          </a:xfrm>
          <a:prstGeom prst="rect">
            <a:avLst/>
          </a:prstGeom>
        </p:spPr>
        <p:txBody>
          <a:bodyPr/>
          <a:lstStyle/>
          <a:p>
            <a:endParaRPr lang="de-DE"/>
          </a:p>
        </p:txBody>
      </p:sp>
      <p:sp>
        <p:nvSpPr>
          <p:cNvPr id="6" name="Foliennummernplatzhalter 5">
            <a:extLst>
              <a:ext uri="{FF2B5EF4-FFF2-40B4-BE49-F238E27FC236}">
                <a16:creationId xmlns:a16="http://schemas.microsoft.com/office/drawing/2014/main" id="{2882C8FE-40B5-8B83-54CF-D821A341DF3F}"/>
              </a:ext>
            </a:extLst>
          </p:cNvPr>
          <p:cNvSpPr>
            <a:spLocks noGrp="1"/>
          </p:cNvSpPr>
          <p:nvPr>
            <p:ph type="sldNum" sz="quarter" idx="12"/>
          </p:nvPr>
        </p:nvSpPr>
        <p:spPr>
          <a:xfrm>
            <a:off x="8610600" y="6356350"/>
            <a:ext cx="2743200" cy="365125"/>
          </a:xfrm>
          <a:prstGeom prst="rect">
            <a:avLst/>
          </a:prstGeom>
        </p:spPr>
        <p:txBody>
          <a:bodyPr/>
          <a:lstStyle/>
          <a:p>
            <a:fld id="{C53EE8D0-5F22-4FC4-9C59-163FB10A6431}" type="slidenum">
              <a:rPr lang="de-DE" smtClean="0"/>
              <a:t>‹Nr.›</a:t>
            </a:fld>
            <a:endParaRPr lang="de-DE"/>
          </a:p>
        </p:txBody>
      </p:sp>
    </p:spTree>
    <p:extLst>
      <p:ext uri="{BB962C8B-B14F-4D97-AF65-F5344CB8AC3E}">
        <p14:creationId xmlns:p14="http://schemas.microsoft.com/office/powerpoint/2010/main" val="2905716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1116276"/>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911886" y="2520947"/>
            <a:ext cx="10515600" cy="3645430"/>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9617084" y="6347927"/>
            <a:ext cx="119435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C2F93DE5-1B54-40DF-BA16-83ABB02D28EE}" type="datetimeFigureOut">
              <a:rPr lang="de-DE" smtClean="0"/>
              <a:pPr/>
              <a:t>10.10.2026</a:t>
            </a:fld>
            <a:endParaRPr lang="de-DE"/>
          </a:p>
        </p:txBody>
      </p:sp>
      <p:sp>
        <p:nvSpPr>
          <p:cNvPr id="5" name="Fußzeilenplatzhalter 4"/>
          <p:cNvSpPr>
            <a:spLocks noGrp="1"/>
          </p:cNvSpPr>
          <p:nvPr>
            <p:ph type="ftr" sz="quarter" idx="3"/>
          </p:nvPr>
        </p:nvSpPr>
        <p:spPr>
          <a:xfrm>
            <a:off x="3384179" y="6356350"/>
            <a:ext cx="609151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dirty="0"/>
          </a:p>
        </p:txBody>
      </p:sp>
      <p:sp>
        <p:nvSpPr>
          <p:cNvPr id="6" name="Foliennummernplatzhalter 5"/>
          <p:cNvSpPr>
            <a:spLocks noGrp="1"/>
          </p:cNvSpPr>
          <p:nvPr>
            <p:ph type="sldNum" sz="quarter" idx="4"/>
          </p:nvPr>
        </p:nvSpPr>
        <p:spPr>
          <a:xfrm>
            <a:off x="10945229" y="6356350"/>
            <a:ext cx="471325"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E1727B-6967-4BFE-9540-9DEF75E1326D}" type="slidenum">
              <a:rPr lang="de-DE" smtClean="0"/>
              <a:pPr/>
              <a:t>‹Nr.›</a:t>
            </a:fld>
            <a:endParaRPr lang="de-DE"/>
          </a:p>
        </p:txBody>
      </p:sp>
      <p:pic>
        <p:nvPicPr>
          <p:cNvPr id="8" name="Grafik 7"/>
          <p:cNvPicPr>
            <a:picLocks noChangeAspect="1"/>
          </p:cNvPicPr>
          <p:nvPr userDrawn="1"/>
        </p:nvPicPr>
        <p:blipFill>
          <a:blip r:embed="rId13"/>
          <a:stretch>
            <a:fillRect/>
          </a:stretch>
        </p:blipFill>
        <p:spPr>
          <a:xfrm>
            <a:off x="0" y="-50332"/>
            <a:ext cx="12339373" cy="1121761"/>
          </a:xfrm>
          <a:prstGeom prst="rect">
            <a:avLst/>
          </a:prstGeom>
          <a:effectLst>
            <a:outerShdw blurRad="50800" dist="38100" dir="5400000" algn="t" rotWithShape="0">
              <a:prstClr val="black">
                <a:alpha val="40000"/>
              </a:prstClr>
            </a:outerShdw>
          </a:effectLst>
        </p:spPr>
      </p:pic>
      <p:pic>
        <p:nvPicPr>
          <p:cNvPr id="9" name="Grafik 8" descr="im Regierungsbezirk Kￃﾶln&#10;&#10;KI-generierte Inhalte können fehlerhaft sein.">
            <a:extLst>
              <a:ext uri="{FF2B5EF4-FFF2-40B4-BE49-F238E27FC236}">
                <a16:creationId xmlns:a16="http://schemas.microsoft.com/office/drawing/2014/main" id="{A79ACDB9-1B6E-4D27-7140-CB526FC90F44}"/>
              </a:ext>
            </a:extLst>
          </p:cNvPr>
          <p:cNvPicPr>
            <a:picLocks noChangeAspect="1"/>
          </p:cNvPicPr>
          <p:nvPr userDrawn="1"/>
        </p:nvPicPr>
        <p:blipFill>
          <a:blip r:embed="rId14" cstate="print">
            <a:extLst>
              <a:ext uri="{28A0092B-C50C-407E-A947-70E740481C1C}">
                <a14:useLocalDpi xmlns:a14="http://schemas.microsoft.com/office/drawing/2010/main" val="0"/>
              </a:ext>
            </a:extLst>
          </a:blip>
          <a:srcRect t="10197" b="11701"/>
          <a:stretch>
            <a:fillRect/>
          </a:stretch>
        </p:blipFill>
        <p:spPr>
          <a:xfrm>
            <a:off x="120488" y="6026733"/>
            <a:ext cx="3192997" cy="831267"/>
          </a:xfrm>
          <a:prstGeom prst="rect">
            <a:avLst/>
          </a:prstGeom>
        </p:spPr>
      </p:pic>
    </p:spTree>
    <p:extLst>
      <p:ext uri="{BB962C8B-B14F-4D97-AF65-F5344CB8AC3E}">
        <p14:creationId xmlns:p14="http://schemas.microsoft.com/office/powerpoint/2010/main" val="169303500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Grafik 7" descr="Education in the digital world.&#10;&#10;KI-generierte Inhalte können fehlerhaft sein.">
            <a:extLst>
              <a:ext uri="{FF2B5EF4-FFF2-40B4-BE49-F238E27FC236}">
                <a16:creationId xmlns:a16="http://schemas.microsoft.com/office/drawing/2014/main" id="{36C86FFF-A1AB-2143-68F4-EA494EED5C0F}"/>
              </a:ext>
            </a:extLst>
          </p:cNvPr>
          <p:cNvPicPr>
            <a:picLocks noChangeAspect="1"/>
          </p:cNvPicPr>
          <p:nvPr userDrawn="1"/>
        </p:nvPicPr>
        <p:blipFill>
          <a:blip r:embed="rId13"/>
          <a:stretch>
            <a:fillRect/>
          </a:stretch>
        </p:blipFill>
        <p:spPr>
          <a:xfrm>
            <a:off x="0" y="-50332"/>
            <a:ext cx="12339373" cy="1121761"/>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167950892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feld 5">
            <a:extLst>
              <a:ext uri="{FF2B5EF4-FFF2-40B4-BE49-F238E27FC236}">
                <a16:creationId xmlns:a16="http://schemas.microsoft.com/office/drawing/2014/main" id="{87CAE101-4AEC-5D5E-F7A6-9CCF091DB7BD}"/>
              </a:ext>
            </a:extLst>
          </p:cNvPr>
          <p:cNvSpPr txBox="1"/>
          <p:nvPr/>
        </p:nvSpPr>
        <p:spPr>
          <a:xfrm>
            <a:off x="694944" y="2053596"/>
            <a:ext cx="11018520" cy="1692771"/>
          </a:xfrm>
          <a:prstGeom prst="rect">
            <a:avLst/>
          </a:prstGeom>
          <a:noFill/>
        </p:spPr>
        <p:txBody>
          <a:bodyPr wrap="square">
            <a:spAutoFit/>
          </a:bodyPr>
          <a:lstStyle/>
          <a:p>
            <a:pPr algn="ctr"/>
            <a:r>
              <a:rPr lang="de-DE" sz="4000" b="1" dirty="0">
                <a:latin typeface="Calibri Light" panose="020F0302020204030204" pitchFamily="34" charset="0"/>
                <a:ea typeface="Calibri Light" panose="020F0302020204030204" pitchFamily="34" charset="0"/>
                <a:cs typeface="Calibri Light" panose="020F0302020204030204" pitchFamily="34" charset="0"/>
              </a:rPr>
              <a:t>Orientierungsmodell für die </a:t>
            </a:r>
            <a:br>
              <a:rPr lang="de-DE" sz="4000" b="1" dirty="0">
                <a:latin typeface="Calibri Light" panose="020F0302020204030204" pitchFamily="34" charset="0"/>
                <a:ea typeface="Calibri Light" panose="020F0302020204030204" pitchFamily="34" charset="0"/>
                <a:cs typeface="Calibri Light" panose="020F0302020204030204" pitchFamily="34" charset="0"/>
              </a:rPr>
            </a:br>
            <a:r>
              <a:rPr lang="de-DE" sz="4000" b="1" dirty="0">
                <a:latin typeface="Calibri Light" panose="020F0302020204030204" pitchFamily="34" charset="0"/>
                <a:ea typeface="Calibri Light" panose="020F0302020204030204" pitchFamily="34" charset="0"/>
                <a:cs typeface="Calibri Light" panose="020F0302020204030204" pitchFamily="34" charset="0"/>
              </a:rPr>
              <a:t>digitalisierungsbezogene Schulentwicklung</a:t>
            </a:r>
          </a:p>
          <a:p>
            <a:pPr algn="ctr"/>
            <a:r>
              <a:rPr lang="de-DE" sz="2400" i="1" dirty="0">
                <a:latin typeface="Calibri Light" panose="020F0302020204030204" pitchFamily="34" charset="0"/>
                <a:ea typeface="Calibri Light" panose="020F0302020204030204" pitchFamily="34" charset="0"/>
                <a:cs typeface="Calibri Light" panose="020F0302020204030204" pitchFamily="34" charset="0"/>
              </a:rPr>
              <a:t>Ein Praxisleitfaden für Medienberatende / Digitalisierungsbeauftrage</a:t>
            </a:r>
            <a:endParaRPr lang="de-DE" sz="2400" dirty="0">
              <a:solidFill>
                <a:srgbClr val="FF0000"/>
              </a:solidFill>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185686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07260-D8A0-363F-E533-EA384521E716}"/>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E646FA09-75A1-19BE-9653-7688792448C9}"/>
              </a:ext>
            </a:extLst>
          </p:cNvPr>
          <p:cNvSpPr txBox="1"/>
          <p:nvPr/>
        </p:nvSpPr>
        <p:spPr>
          <a:xfrm>
            <a:off x="550164" y="1105287"/>
            <a:ext cx="11091672" cy="5509200"/>
          </a:xfrm>
          <a:prstGeom prst="rect">
            <a:avLst/>
          </a:prstGeom>
          <a:noFill/>
        </p:spPr>
        <p:txBody>
          <a:bodyPr wrap="square">
            <a:spAutoFit/>
          </a:bodyPr>
          <a:lstStyle/>
          <a:p>
            <a:pPr>
              <a:lnSpc>
                <a:spcPct val="100000"/>
              </a:lnSpc>
              <a:buNone/>
            </a:pPr>
            <a:r>
              <a:rPr lang="de-DE" sz="4400" b="1" dirty="0">
                <a:latin typeface="Calibri Light" panose="020F0302020204030204" pitchFamily="34" charset="0"/>
                <a:ea typeface="Calibri Light" panose="020F0302020204030204" pitchFamily="34" charset="0"/>
                <a:cs typeface="Calibri Light" panose="020F0302020204030204" pitchFamily="34" charset="0"/>
              </a:rPr>
              <a:t>Wozu dient das Orientierungsmodell?</a:t>
            </a:r>
          </a:p>
          <a:p>
            <a:pPr>
              <a:lnSpc>
                <a:spcPct val="100000"/>
              </a:lnSpc>
              <a:buNone/>
            </a:pPr>
            <a:endParaRPr lang="de-DE" sz="2800" dirty="0">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de-DE" sz="2000" dirty="0">
                <a:latin typeface="Calibri" panose="020F0502020204030204" pitchFamily="34" charset="0"/>
                <a:ea typeface="Calibri" panose="020F0502020204030204" pitchFamily="34" charset="0"/>
                <a:cs typeface="Calibri" panose="020F0502020204030204" pitchFamily="34" charset="0"/>
              </a:rPr>
              <a:t>Das Orientierungsmodell unterstützt Digitalisierungsbeauftragte dabei, gemeinsam mit der Schulleitung und weiteren Beteiligten digitalisierungsbezogene Schulentwicklungsprozesse anzustoßen und zu begleiten.</a:t>
            </a:r>
          </a:p>
          <a:p>
            <a:pPr>
              <a:spcAft>
                <a:spcPts val="600"/>
              </a:spcAft>
            </a:pPr>
            <a:endParaRPr lang="de-DE" sz="2000" dirty="0">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de-DE" sz="2000" dirty="0">
                <a:latin typeface="Calibri" panose="020F0502020204030204" pitchFamily="34" charset="0"/>
                <a:ea typeface="Calibri" panose="020F0502020204030204" pitchFamily="34" charset="0"/>
                <a:cs typeface="Calibri" panose="020F0502020204030204" pitchFamily="34" charset="0"/>
              </a:rPr>
              <a:t>Das Orientierungsmodell bietet dabei keine feste Schrittfolge. Es hilft,</a:t>
            </a:r>
          </a:p>
          <a:p>
            <a:pPr marL="342900" indent="-342900">
              <a:spcAft>
                <a:spcPts val="600"/>
              </a:spcAft>
              <a:buFont typeface="Arial" panose="020B0604020202020204" pitchFamily="34" charset="0"/>
              <a:buChar char="•"/>
            </a:pPr>
            <a:r>
              <a:rPr lang="de-DE" sz="2000" dirty="0">
                <a:latin typeface="Calibri" panose="020F0502020204030204" pitchFamily="34" charset="0"/>
                <a:ea typeface="Calibri" panose="020F0502020204030204" pitchFamily="34" charset="0"/>
                <a:cs typeface="Calibri" panose="020F0502020204030204" pitchFamily="34" charset="0"/>
              </a:rPr>
              <a:t>in offenen Entwicklungssituationen Orientierung zu gewinnen, </a:t>
            </a:r>
          </a:p>
          <a:p>
            <a:pPr marL="342900" indent="-342900">
              <a:spcAft>
                <a:spcPts val="600"/>
              </a:spcAft>
              <a:buFont typeface="Arial" panose="020B0604020202020204" pitchFamily="34" charset="0"/>
              <a:buChar char="•"/>
            </a:pPr>
            <a:r>
              <a:rPr lang="de-DE" sz="2000" dirty="0">
                <a:latin typeface="Calibri" panose="020F0502020204030204" pitchFamily="34" charset="0"/>
                <a:ea typeface="Calibri" panose="020F0502020204030204" pitchFamily="34" charset="0"/>
                <a:cs typeface="Calibri" panose="020F0502020204030204" pitchFamily="34" charset="0"/>
              </a:rPr>
              <a:t>Beteiligung und Erprobung zu ermöglichen, </a:t>
            </a:r>
          </a:p>
          <a:p>
            <a:pPr marL="342900" indent="-342900">
              <a:spcAft>
                <a:spcPts val="600"/>
              </a:spcAft>
              <a:buFont typeface="Arial" panose="020B0604020202020204" pitchFamily="34" charset="0"/>
              <a:buChar char="•"/>
            </a:pPr>
            <a:r>
              <a:rPr lang="de-DE" sz="2000" dirty="0">
                <a:latin typeface="Calibri" panose="020F0502020204030204" pitchFamily="34" charset="0"/>
                <a:ea typeface="Calibri" panose="020F0502020204030204" pitchFamily="34" charset="0"/>
                <a:cs typeface="Calibri" panose="020F0502020204030204" pitchFamily="34" charset="0"/>
              </a:rPr>
              <a:t>Erfahrungen für die weitere Entwicklung zu nutzen und </a:t>
            </a:r>
          </a:p>
          <a:p>
            <a:pPr marL="342900" indent="-342900">
              <a:spcAft>
                <a:spcPts val="600"/>
              </a:spcAft>
              <a:buFont typeface="Arial" panose="020B0604020202020204" pitchFamily="34" charset="0"/>
              <a:buChar char="•"/>
            </a:pPr>
            <a:r>
              <a:rPr lang="de-DE" sz="2000" dirty="0">
                <a:latin typeface="Calibri" panose="020F0502020204030204" pitchFamily="34" charset="0"/>
                <a:ea typeface="Calibri" panose="020F0502020204030204" pitchFamily="34" charset="0"/>
                <a:cs typeface="Calibri" panose="020F0502020204030204" pitchFamily="34" charset="0"/>
              </a:rPr>
              <a:t>mit wachsender Klarheit zunehmend systematisch zu gestalten und zu verankern. </a:t>
            </a:r>
          </a:p>
          <a:p>
            <a:pPr>
              <a:spcAft>
                <a:spcPts val="600"/>
              </a:spcAft>
            </a:pPr>
            <a:endParaRPr lang="de-DE" sz="2000" dirty="0">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de-DE" sz="2000" dirty="0">
                <a:latin typeface="Calibri" panose="020F0502020204030204" pitchFamily="34" charset="0"/>
                <a:ea typeface="Calibri" panose="020F0502020204030204" pitchFamily="34" charset="0"/>
                <a:cs typeface="Calibri" panose="020F0502020204030204" pitchFamily="34" charset="0"/>
              </a:rPr>
              <a:t>Die folgenden Seiten erläutern die Forschungsbefunde und die </a:t>
            </a:r>
            <a:r>
              <a:rPr lang="de-DE" sz="2000" dirty="0" err="1">
                <a:latin typeface="Calibri" panose="020F0502020204030204" pitchFamily="34" charset="0"/>
                <a:ea typeface="Calibri" panose="020F0502020204030204" pitchFamily="34" charset="0"/>
                <a:cs typeface="Calibri" panose="020F0502020204030204" pitchFamily="34" charset="0"/>
              </a:rPr>
              <a:t>Effectuation</a:t>
            </a:r>
            <a:r>
              <a:rPr lang="de-DE" sz="2000" dirty="0">
                <a:latin typeface="Calibri" panose="020F0502020204030204" pitchFamily="34" charset="0"/>
                <a:ea typeface="Calibri" panose="020F0502020204030204" pitchFamily="34" charset="0"/>
                <a:cs typeface="Calibri" panose="020F0502020204030204" pitchFamily="34" charset="0"/>
              </a:rPr>
              <a:t>-Handlungslogik, auf denen der Ansatz aufbaut.</a:t>
            </a:r>
          </a:p>
        </p:txBody>
      </p:sp>
    </p:spTree>
    <p:extLst>
      <p:ext uri="{BB962C8B-B14F-4D97-AF65-F5344CB8AC3E}">
        <p14:creationId xmlns:p14="http://schemas.microsoft.com/office/powerpoint/2010/main" val="2919224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63EC59D2-BD86-BA17-6FFC-24EAF39309FD}"/>
              </a:ext>
            </a:extLst>
          </p:cNvPr>
          <p:cNvSpPr txBox="1"/>
          <p:nvPr/>
        </p:nvSpPr>
        <p:spPr>
          <a:xfrm>
            <a:off x="246993" y="1138702"/>
            <a:ext cx="11698014" cy="5632311"/>
          </a:xfrm>
          <a:prstGeom prst="rect">
            <a:avLst/>
          </a:prstGeom>
          <a:noFill/>
        </p:spPr>
        <p:txBody>
          <a:bodyPr wrap="square">
            <a:spAutoFit/>
          </a:bodyPr>
          <a:lstStyle/>
          <a:p>
            <a:pPr>
              <a:buNone/>
            </a:pPr>
            <a:r>
              <a:rPr lang="de-DE" sz="4400" b="1" dirty="0">
                <a:latin typeface="Calibri Light" panose="020F0302020204030204" pitchFamily="34" charset="0"/>
                <a:ea typeface="Calibri Light" panose="020F0302020204030204" pitchFamily="34" charset="0"/>
                <a:cs typeface="Calibri Light" panose="020F0302020204030204" pitchFamily="34" charset="0"/>
              </a:rPr>
              <a:t>Konzeptionelle Grundlage des Orientierungsmodells</a:t>
            </a:r>
          </a:p>
          <a:p>
            <a:r>
              <a:rPr lang="de-DE" sz="2000" i="1" dirty="0">
                <a:latin typeface="Calibri" panose="020F0502020204030204" pitchFamily="34" charset="0"/>
                <a:ea typeface="Calibri" panose="020F0502020204030204" pitchFamily="34" charset="0"/>
                <a:cs typeface="Calibri" panose="020F0502020204030204" pitchFamily="34" charset="0"/>
              </a:rPr>
              <a:t>Unser Ansatz verbindet drei Perspektiven:</a:t>
            </a:r>
          </a:p>
          <a:p>
            <a:pPr>
              <a:buNone/>
            </a:pPr>
            <a:endParaRPr lang="de-DE"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de-DE" sz="2000" b="1" dirty="0">
                <a:latin typeface="Calibri" panose="020F0502020204030204" pitchFamily="34" charset="0"/>
                <a:ea typeface="Calibri" panose="020F0502020204030204" pitchFamily="34" charset="0"/>
                <a:cs typeface="Calibri" panose="020F0502020204030204" pitchFamily="34" charset="0"/>
              </a:rPr>
              <a:t>Forschungsbefunde schärfen den Blick:</a:t>
            </a:r>
            <a:br>
              <a:rPr lang="de-DE" sz="2000" dirty="0">
                <a:latin typeface="Calibri" panose="020F0502020204030204" pitchFamily="34" charset="0"/>
                <a:ea typeface="Calibri" panose="020F0502020204030204" pitchFamily="34" charset="0"/>
                <a:cs typeface="Calibri" panose="020F0502020204030204" pitchFamily="34" charset="0"/>
              </a:rPr>
            </a:br>
            <a:r>
              <a:rPr lang="de-DE" sz="2000" dirty="0">
                <a:latin typeface="Calibri" panose="020F0502020204030204" pitchFamily="34" charset="0"/>
                <a:ea typeface="Calibri" panose="020F0502020204030204" pitchFamily="34" charset="0"/>
                <a:cs typeface="Calibri" panose="020F0502020204030204" pitchFamily="34" charset="0"/>
              </a:rPr>
              <a:t>Erkenntnisse aus der Schulentwicklungs- und Transferforschung zeigen relevante Bedingungen auf. Sie bilden Bezugspunkte für die Reflexionsaspekte und Leitfragen des Begleitmaterials.</a:t>
            </a:r>
          </a:p>
          <a:p>
            <a:pPr marL="342900" lvl="0" indent="-342900">
              <a:buFont typeface="Arial" panose="020B0604020202020204" pitchFamily="34" charset="0"/>
              <a:buChar char="•"/>
            </a:pPr>
            <a:endParaRPr lang="de-DE" sz="2000"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de-DE" sz="2000" b="1" dirty="0" err="1">
                <a:latin typeface="Calibri" panose="020F0502020204030204" pitchFamily="34" charset="0"/>
                <a:ea typeface="Calibri" panose="020F0502020204030204" pitchFamily="34" charset="0"/>
                <a:cs typeface="Calibri" panose="020F0502020204030204" pitchFamily="34" charset="0"/>
              </a:rPr>
              <a:t>Effectuation</a:t>
            </a:r>
            <a:r>
              <a:rPr lang="de-DE" sz="2000" b="1" dirty="0">
                <a:latin typeface="Calibri" panose="020F0502020204030204" pitchFamily="34" charset="0"/>
                <a:ea typeface="Calibri" panose="020F0502020204030204" pitchFamily="34" charset="0"/>
                <a:cs typeface="Calibri" panose="020F0502020204030204" pitchFamily="34" charset="0"/>
              </a:rPr>
              <a:t> prägt die Handlungslogik:</a:t>
            </a:r>
            <a:r>
              <a:rPr lang="de-DE" sz="2000" dirty="0">
                <a:latin typeface="Calibri" panose="020F0502020204030204" pitchFamily="34" charset="0"/>
                <a:ea typeface="Calibri" panose="020F0502020204030204" pitchFamily="34" charset="0"/>
                <a:cs typeface="Calibri" panose="020F0502020204030204" pitchFamily="34" charset="0"/>
              </a:rPr>
              <a:t> </a:t>
            </a:r>
            <a:br>
              <a:rPr lang="de-DE" sz="2000" dirty="0">
                <a:latin typeface="Calibri" panose="020F0502020204030204" pitchFamily="34" charset="0"/>
                <a:ea typeface="Calibri" panose="020F0502020204030204" pitchFamily="34" charset="0"/>
                <a:cs typeface="Calibri" panose="020F0502020204030204" pitchFamily="34" charset="0"/>
              </a:rPr>
            </a:br>
            <a:r>
              <a:rPr lang="de-DE" sz="2000" dirty="0">
                <a:latin typeface="Calibri" panose="020F0502020204030204" pitchFamily="34" charset="0"/>
                <a:ea typeface="Calibri" panose="020F0502020204030204" pitchFamily="34" charset="0"/>
                <a:cs typeface="Calibri" panose="020F0502020204030204" pitchFamily="34" charset="0"/>
              </a:rPr>
              <a:t>Unter Unsicherheit mit vorhandenen Mitteln ins Handeln kommen, gemeinsam erproben und aus Erfahrungen lernen. Mit wachsender Klarheit kann zunehmend zielgerichtet gestaltet und verankert werden. </a:t>
            </a:r>
          </a:p>
          <a:p>
            <a:pPr marL="342900" lvl="0" indent="-342900">
              <a:buFont typeface="Arial" panose="020B0604020202020204" pitchFamily="34" charset="0"/>
              <a:buChar char="•"/>
            </a:pPr>
            <a:endParaRPr lang="de-DE"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de-DE" sz="2000" b="1" dirty="0">
                <a:latin typeface="Calibri" panose="020F0502020204030204" pitchFamily="34" charset="0"/>
                <a:ea typeface="Calibri" panose="020F0502020204030204" pitchFamily="34" charset="0"/>
                <a:cs typeface="Calibri" panose="020F0502020204030204" pitchFamily="34" charset="0"/>
              </a:rPr>
              <a:t>Das Orientierungsmodell strukturiert die Begleitung.</a:t>
            </a:r>
            <a:br>
              <a:rPr lang="de-DE" sz="2000" dirty="0">
                <a:latin typeface="Calibri" panose="020F0502020204030204" pitchFamily="34" charset="0"/>
                <a:ea typeface="Calibri" panose="020F0502020204030204" pitchFamily="34" charset="0"/>
                <a:cs typeface="Calibri" panose="020F0502020204030204" pitchFamily="34" charset="0"/>
              </a:rPr>
            </a:br>
            <a:r>
              <a:rPr lang="de-DE" sz="2000" dirty="0">
                <a:latin typeface="Calibri" panose="020F0502020204030204" pitchFamily="34" charset="0"/>
                <a:ea typeface="Calibri" panose="020F0502020204030204" pitchFamily="34" charset="0"/>
                <a:cs typeface="Calibri" panose="020F0502020204030204" pitchFamily="34" charset="0"/>
              </a:rPr>
              <a:t>Es verbindet diese Handlungslogik mit Orientierung, Beteiligung und regelmäßiger Überprüfung. Mit wachsender Klarheit werden Vorhaben weiterentwickelt und bewährte Ansätze in der Schulpraxis verankert.</a:t>
            </a:r>
          </a:p>
          <a:p>
            <a:pPr marL="342900" indent="-342900">
              <a:buFont typeface="Arial" panose="020B0604020202020204" pitchFamily="34" charset="0"/>
              <a:buChar char="•"/>
            </a:pPr>
            <a:endParaRPr lang="de-DE" sz="2000" dirty="0">
              <a:latin typeface="Calibri" panose="020F0502020204030204" pitchFamily="34" charset="0"/>
              <a:ea typeface="Calibri" panose="020F0502020204030204" pitchFamily="34" charset="0"/>
              <a:cs typeface="Calibri" panose="020F0502020204030204" pitchFamily="34" charset="0"/>
            </a:endParaRPr>
          </a:p>
          <a:p>
            <a:r>
              <a:rPr lang="de-DE" sz="1600" i="1" dirty="0">
                <a:latin typeface="Calibri" panose="020F0502020204030204" pitchFamily="34" charset="0"/>
                <a:ea typeface="Calibri" panose="020F0502020204030204" pitchFamily="34" charset="0"/>
                <a:cs typeface="Calibri" panose="020F0502020204030204" pitchFamily="34" charset="0"/>
              </a:rPr>
              <a:t>Die Verbindung der Forschungsbefunde mit </a:t>
            </a:r>
            <a:r>
              <a:rPr lang="de-DE" sz="1600" i="1" dirty="0" err="1">
                <a:latin typeface="Calibri" panose="020F0502020204030204" pitchFamily="34" charset="0"/>
                <a:ea typeface="Calibri" panose="020F0502020204030204" pitchFamily="34" charset="0"/>
                <a:cs typeface="Calibri" panose="020F0502020204030204" pitchFamily="34" charset="0"/>
              </a:rPr>
              <a:t>Effectuation</a:t>
            </a:r>
            <a:r>
              <a:rPr lang="de-DE" sz="1600" i="1" dirty="0">
                <a:latin typeface="Calibri" panose="020F0502020204030204" pitchFamily="34" charset="0"/>
                <a:ea typeface="Calibri" panose="020F0502020204030204" pitchFamily="34" charset="0"/>
                <a:cs typeface="Calibri" panose="020F0502020204030204" pitchFamily="34" charset="0"/>
              </a:rPr>
              <a:t> und dem Orientierungsmodell ist unsere eigene konzeptionelle Ableitung.</a:t>
            </a:r>
          </a:p>
        </p:txBody>
      </p:sp>
    </p:spTree>
    <p:extLst>
      <p:ext uri="{BB962C8B-B14F-4D97-AF65-F5344CB8AC3E}">
        <p14:creationId xmlns:p14="http://schemas.microsoft.com/office/powerpoint/2010/main" val="2932430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148FE89-3024-6DF0-E469-BB05E1971285}"/>
              </a:ext>
            </a:extLst>
          </p:cNvPr>
          <p:cNvSpPr>
            <a:spLocks noGrp="1"/>
          </p:cNvSpPr>
          <p:nvPr>
            <p:ph idx="4294967295"/>
          </p:nvPr>
        </p:nvSpPr>
        <p:spPr>
          <a:xfrm>
            <a:off x="128016" y="1166630"/>
            <a:ext cx="11850624" cy="971042"/>
          </a:xfrm>
          <a:prstGeom prst="rect">
            <a:avLst/>
          </a:prstGeom>
        </p:spPr>
        <p:txBody>
          <a:bodyPr>
            <a:noAutofit/>
          </a:bodyPr>
          <a:lstStyle/>
          <a:p>
            <a:pPr marL="0" indent="0">
              <a:lnSpc>
                <a:spcPct val="140000"/>
              </a:lnSpc>
              <a:spcBef>
                <a:spcPts val="0"/>
              </a:spcBef>
              <a:spcAft>
                <a:spcPts val="600"/>
              </a:spcAft>
              <a:buNone/>
            </a:pPr>
            <a:r>
              <a:rPr lang="de-DE" sz="3200" b="1" dirty="0">
                <a:latin typeface="Calibri Light" panose="020F0302020204030204" pitchFamily="34" charset="0"/>
                <a:ea typeface="Calibri Light" panose="020F0302020204030204" pitchFamily="34" charset="0"/>
                <a:cs typeface="Calibri Light" panose="020F0302020204030204" pitchFamily="34" charset="0"/>
              </a:rPr>
              <a:t>Forschungsbefunde:  Zwei Handreichungen für die Schulentwicklung</a:t>
            </a:r>
            <a:endParaRPr lang="de-DE" sz="3200" dirty="0">
              <a:latin typeface="Calibri Light" panose="020F0302020204030204" pitchFamily="34" charset="0"/>
              <a:ea typeface="Calibri Light" panose="020F0302020204030204" pitchFamily="34" charset="0"/>
              <a:cs typeface="Calibri Light" panose="020F0302020204030204" pitchFamily="34" charset="0"/>
            </a:endParaRPr>
          </a:p>
          <a:p>
            <a:pPr marL="0" indent="0">
              <a:lnSpc>
                <a:spcPct val="140000"/>
              </a:lnSpc>
              <a:spcBef>
                <a:spcPts val="0"/>
              </a:spcBef>
              <a:spcAft>
                <a:spcPts val="600"/>
              </a:spcAft>
              <a:buNone/>
            </a:pPr>
            <a:endParaRPr lang="de-DE" sz="1800" dirty="0">
              <a:latin typeface="Calibri" panose="020F0502020204030204" pitchFamily="34" charset="0"/>
              <a:ea typeface="Calibri" panose="020F0502020204030204" pitchFamily="34" charset="0"/>
              <a:cs typeface="Calibri" panose="020F0502020204030204" pitchFamily="34" charset="0"/>
            </a:endParaRPr>
          </a:p>
        </p:txBody>
      </p:sp>
      <p:pic>
        <p:nvPicPr>
          <p:cNvPr id="4" name="Grafik 3" descr="Transfer Guter Praxis&#10;&#10;KI-generierte Inhalte können fehlerhaft sein.">
            <a:extLst>
              <a:ext uri="{FF2B5EF4-FFF2-40B4-BE49-F238E27FC236}">
                <a16:creationId xmlns:a16="http://schemas.microsoft.com/office/drawing/2014/main" id="{43A9323F-515B-69BC-D7D6-8945FCA9917B}"/>
              </a:ext>
            </a:extLst>
          </p:cNvPr>
          <p:cNvPicPr>
            <a:picLocks noChangeAspect="1"/>
          </p:cNvPicPr>
          <p:nvPr/>
        </p:nvPicPr>
        <p:blipFill>
          <a:blip r:embed="rId2"/>
          <a:stretch>
            <a:fillRect/>
          </a:stretch>
        </p:blipFill>
        <p:spPr>
          <a:xfrm>
            <a:off x="10127459" y="1816259"/>
            <a:ext cx="1423049" cy="2005583"/>
          </a:xfrm>
          <a:prstGeom prst="rect">
            <a:avLst/>
          </a:prstGeom>
        </p:spPr>
      </p:pic>
      <p:pic>
        <p:nvPicPr>
          <p:cNvPr id="6" name="Grafik 5" descr="The image is a diagram illustrating the digitalization process for educational leadership, emphasizing strategic learning, school development, and IT support, as part of a research project in NRW, Germany.&#10;&#10;KI-generierte Inhalte können fehlerhaft sein.">
            <a:extLst>
              <a:ext uri="{FF2B5EF4-FFF2-40B4-BE49-F238E27FC236}">
                <a16:creationId xmlns:a16="http://schemas.microsoft.com/office/drawing/2014/main" id="{D81DA993-75AC-C2B9-3D40-6E283F643DD7}"/>
              </a:ext>
            </a:extLst>
          </p:cNvPr>
          <p:cNvPicPr>
            <a:picLocks noChangeAspect="1"/>
          </p:cNvPicPr>
          <p:nvPr/>
        </p:nvPicPr>
        <p:blipFill>
          <a:blip r:embed="rId3"/>
          <a:stretch>
            <a:fillRect/>
          </a:stretch>
        </p:blipFill>
        <p:spPr>
          <a:xfrm>
            <a:off x="10127459" y="4038949"/>
            <a:ext cx="1455165" cy="2005235"/>
          </a:xfrm>
          <a:prstGeom prst="rect">
            <a:avLst/>
          </a:prstGeom>
        </p:spPr>
      </p:pic>
      <p:sp>
        <p:nvSpPr>
          <p:cNvPr id="8" name="Textfeld 7">
            <a:extLst>
              <a:ext uri="{FF2B5EF4-FFF2-40B4-BE49-F238E27FC236}">
                <a16:creationId xmlns:a16="http://schemas.microsoft.com/office/drawing/2014/main" id="{EF4BD3D1-DFE6-0401-8CED-8EEE933D7D04}"/>
              </a:ext>
            </a:extLst>
          </p:cNvPr>
          <p:cNvSpPr txBox="1"/>
          <p:nvPr/>
        </p:nvSpPr>
        <p:spPr>
          <a:xfrm>
            <a:off x="128016" y="2179832"/>
            <a:ext cx="9875520" cy="4522905"/>
          </a:xfrm>
          <a:prstGeom prst="rect">
            <a:avLst/>
          </a:prstGeom>
          <a:noFill/>
        </p:spPr>
        <p:txBody>
          <a:bodyPr wrap="square">
            <a:spAutoFit/>
          </a:bodyPr>
          <a:lstStyle/>
          <a:p>
            <a:pPr marL="0" indent="0">
              <a:lnSpc>
                <a:spcPct val="120000"/>
              </a:lnSpc>
              <a:spcBef>
                <a:spcPts val="0"/>
              </a:spcBef>
              <a:spcAft>
                <a:spcPts val="600"/>
              </a:spcAft>
              <a:buNone/>
            </a:pPr>
            <a:r>
              <a:rPr lang="de-DE" sz="1800" b="1" dirty="0">
                <a:latin typeface="Calibri" panose="020F0502020204030204" pitchFamily="34" charset="0"/>
                <a:ea typeface="Calibri" panose="020F0502020204030204" pitchFamily="34" charset="0"/>
                <a:cs typeface="Calibri" panose="020F0502020204030204" pitchFamily="34" charset="0"/>
              </a:rPr>
              <a:t>Transfer Guter Praxis (2025) - </a:t>
            </a:r>
            <a:r>
              <a:rPr lang="de-DE" sz="1800" i="1" dirty="0">
                <a:latin typeface="Calibri" panose="020F0502020204030204" pitchFamily="34" charset="0"/>
                <a:ea typeface="Calibri" panose="020F0502020204030204" pitchFamily="34" charset="0"/>
                <a:cs typeface="Calibri" panose="020F0502020204030204" pitchFamily="34" charset="0"/>
              </a:rPr>
              <a:t>Nicole Stein, Alexandra Dehmel und Benjamin Fauth</a:t>
            </a:r>
            <a:endParaRPr lang="de-DE" sz="1800" dirty="0">
              <a:latin typeface="Calibri" panose="020F0502020204030204" pitchFamily="34" charset="0"/>
              <a:ea typeface="Calibri" panose="020F0502020204030204" pitchFamily="34" charset="0"/>
              <a:cs typeface="Calibri" panose="020F0502020204030204" pitchFamily="34" charset="0"/>
            </a:endParaRPr>
          </a:p>
          <a:p>
            <a:pPr>
              <a:lnSpc>
                <a:spcPct val="120000"/>
              </a:lnSpc>
              <a:spcBef>
                <a:spcPts val="0"/>
              </a:spcBef>
              <a:spcAft>
                <a:spcPts val="600"/>
              </a:spcAft>
            </a:pPr>
            <a:r>
              <a:rPr lang="de-DE" sz="1800" dirty="0">
                <a:latin typeface="Calibri" panose="020F0502020204030204" pitchFamily="34" charset="0"/>
                <a:ea typeface="Calibri" panose="020F0502020204030204" pitchFamily="34" charset="0"/>
                <a:cs typeface="Calibri" panose="020F0502020204030204" pitchFamily="34" charset="0"/>
              </a:rPr>
              <a:t>Die Handreichung bündelt Erkenntnisse dazu, wie bewährte Praxis an andere Schulen übertragen und dort weiterentwickelt werden kann. Sie erläutert Bedingungen gelingenden Transfers und bietet Praxisbeispiele und Reflexionshilfen.</a:t>
            </a:r>
          </a:p>
          <a:p>
            <a:pPr marL="0" indent="0">
              <a:lnSpc>
                <a:spcPct val="120000"/>
              </a:lnSpc>
              <a:spcBef>
                <a:spcPts val="0"/>
              </a:spcBef>
              <a:spcAft>
                <a:spcPts val="600"/>
              </a:spcAft>
              <a:buNone/>
            </a:pPr>
            <a:endParaRPr lang="de-DE" sz="1800" dirty="0">
              <a:latin typeface="Calibri" panose="020F0502020204030204" pitchFamily="34" charset="0"/>
              <a:ea typeface="Calibri" panose="020F0502020204030204" pitchFamily="34" charset="0"/>
              <a:cs typeface="Calibri" panose="020F0502020204030204" pitchFamily="34" charset="0"/>
            </a:endParaRPr>
          </a:p>
          <a:p>
            <a:pPr marL="0" indent="0">
              <a:lnSpc>
                <a:spcPct val="120000"/>
              </a:lnSpc>
              <a:spcBef>
                <a:spcPts val="0"/>
              </a:spcBef>
              <a:spcAft>
                <a:spcPts val="600"/>
              </a:spcAft>
              <a:buNone/>
            </a:pPr>
            <a:r>
              <a:rPr lang="de-DE" sz="1800" b="1" dirty="0" err="1">
                <a:latin typeface="Calibri" panose="020F0502020204030204" pitchFamily="34" charset="0"/>
                <a:ea typeface="Calibri" panose="020F0502020204030204" pitchFamily="34" charset="0"/>
                <a:cs typeface="Calibri" panose="020F0502020204030204" pitchFamily="34" charset="0"/>
              </a:rPr>
              <a:t>GuTe</a:t>
            </a:r>
            <a:r>
              <a:rPr lang="de-DE" sz="1800" b="1" dirty="0">
                <a:latin typeface="Calibri" panose="020F0502020204030204" pitchFamily="34" charset="0"/>
                <a:ea typeface="Calibri" panose="020F0502020204030204" pitchFamily="34" charset="0"/>
                <a:cs typeface="Calibri" panose="020F0502020204030204" pitchFamily="34" charset="0"/>
              </a:rPr>
              <a:t> </a:t>
            </a:r>
            <a:r>
              <a:rPr lang="de-DE" sz="1800" b="1" dirty="0" err="1">
                <a:latin typeface="Calibri" panose="020F0502020204030204" pitchFamily="34" charset="0"/>
                <a:ea typeface="Calibri" panose="020F0502020204030204" pitchFamily="34" charset="0"/>
                <a:cs typeface="Calibri" panose="020F0502020204030204" pitchFamily="34" charset="0"/>
              </a:rPr>
              <a:t>DigiSchulen</a:t>
            </a:r>
            <a:r>
              <a:rPr lang="de-DE" sz="1800" b="1" dirty="0">
                <a:latin typeface="Calibri" panose="020F0502020204030204" pitchFamily="34" charset="0"/>
                <a:ea typeface="Calibri" panose="020F0502020204030204" pitchFamily="34" charset="0"/>
                <a:cs typeface="Calibri" panose="020F0502020204030204" pitchFamily="34" charset="0"/>
              </a:rPr>
              <a:t> NRW – Praxishandreichung (2023) - </a:t>
            </a:r>
            <a:r>
              <a:rPr lang="de-DE" sz="1800" i="1" dirty="0">
                <a:latin typeface="Calibri" panose="020F0502020204030204" pitchFamily="34" charset="0"/>
                <a:ea typeface="Calibri" panose="020F0502020204030204" pitchFamily="34" charset="0"/>
                <a:cs typeface="Calibri" panose="020F0502020204030204" pitchFamily="34" charset="0"/>
              </a:rPr>
              <a:t>Gerick, Eickelmann et al.</a:t>
            </a:r>
            <a:endParaRPr lang="de-DE" sz="1800" dirty="0">
              <a:latin typeface="Calibri" panose="020F0502020204030204" pitchFamily="34" charset="0"/>
              <a:ea typeface="Calibri" panose="020F0502020204030204" pitchFamily="34" charset="0"/>
              <a:cs typeface="Calibri" panose="020F0502020204030204" pitchFamily="34" charset="0"/>
            </a:endParaRPr>
          </a:p>
          <a:p>
            <a:pPr>
              <a:lnSpc>
                <a:spcPct val="120000"/>
              </a:lnSpc>
              <a:spcBef>
                <a:spcPts val="0"/>
              </a:spcBef>
              <a:spcAft>
                <a:spcPts val="600"/>
              </a:spcAft>
            </a:pPr>
            <a:r>
              <a:rPr lang="de-DE" sz="1800" dirty="0">
                <a:latin typeface="Calibri" panose="020F0502020204030204" pitchFamily="34" charset="0"/>
                <a:ea typeface="Calibri" panose="020F0502020204030204" pitchFamily="34" charset="0"/>
                <a:cs typeface="Calibri" panose="020F0502020204030204" pitchFamily="34" charset="0"/>
              </a:rPr>
              <a:t>Die Handreichung stellt Gelingensbedingungen digitalisierungsbezogener Schulentwicklung vor. Grundlage sind Interviews mit verschiedenen Akteursgruppen an 32 ausgewählten Schulen in NRW. Sie enthält außerdem Stolpersteine, Praxisbeispiele und Reflexionsfragen.</a:t>
            </a:r>
          </a:p>
          <a:p>
            <a:pPr marL="0" indent="0">
              <a:lnSpc>
                <a:spcPct val="120000"/>
              </a:lnSpc>
              <a:spcBef>
                <a:spcPts val="0"/>
              </a:spcBef>
              <a:spcAft>
                <a:spcPts val="600"/>
              </a:spcAft>
              <a:buNone/>
            </a:pPr>
            <a:endParaRPr lang="de-DE" sz="1800" b="1" dirty="0">
              <a:latin typeface="Calibri" panose="020F0502020204030204" pitchFamily="34" charset="0"/>
              <a:ea typeface="Calibri" panose="020F0502020204030204" pitchFamily="34" charset="0"/>
              <a:cs typeface="Calibri" panose="020F0502020204030204" pitchFamily="34" charset="0"/>
            </a:endParaRPr>
          </a:p>
          <a:p>
            <a:pPr marL="0" indent="0">
              <a:lnSpc>
                <a:spcPct val="120000"/>
              </a:lnSpc>
              <a:spcBef>
                <a:spcPts val="0"/>
              </a:spcBef>
              <a:spcAft>
                <a:spcPts val="600"/>
              </a:spcAft>
              <a:buNone/>
            </a:pPr>
            <a:r>
              <a:rPr lang="de-DE" dirty="0">
                <a:latin typeface="Calibri" panose="020F0502020204030204" pitchFamily="34" charset="0"/>
                <a:ea typeface="Calibri" panose="020F0502020204030204" pitchFamily="34" charset="0"/>
                <a:cs typeface="Calibri" panose="020F0502020204030204" pitchFamily="34" charset="0"/>
              </a:rPr>
              <a:t>Die folgenden Folien greifen ausgewählte Erkenntnisse auf. </a:t>
            </a:r>
            <a:br>
              <a:rPr lang="de-DE" dirty="0">
                <a:latin typeface="Calibri" panose="020F0502020204030204" pitchFamily="34" charset="0"/>
                <a:ea typeface="Calibri" panose="020F0502020204030204" pitchFamily="34" charset="0"/>
                <a:cs typeface="Calibri" panose="020F0502020204030204" pitchFamily="34" charset="0"/>
              </a:rPr>
            </a:br>
            <a:r>
              <a:rPr lang="de-DE" dirty="0">
                <a:latin typeface="Calibri" panose="020F0502020204030204" pitchFamily="34" charset="0"/>
                <a:ea typeface="Calibri" panose="020F0502020204030204" pitchFamily="34" charset="0"/>
                <a:cs typeface="Calibri" panose="020F0502020204030204" pitchFamily="34" charset="0"/>
              </a:rPr>
              <a:t>Beide Handreichungen bieten weitere Befunde, Praxisbeispiele und Reflexionshilfen zur Vertiefung.</a:t>
            </a:r>
            <a:endParaRPr lang="de-DE" dirty="0"/>
          </a:p>
        </p:txBody>
      </p:sp>
    </p:spTree>
    <p:extLst>
      <p:ext uri="{BB962C8B-B14F-4D97-AF65-F5344CB8AC3E}">
        <p14:creationId xmlns:p14="http://schemas.microsoft.com/office/powerpoint/2010/main" val="17903103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37CB6-C1DA-26F5-9752-607E8B2F0FCE}"/>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66C6DF9D-B711-0352-0907-2B895745F68E}"/>
              </a:ext>
            </a:extLst>
          </p:cNvPr>
          <p:cNvSpPr txBox="1"/>
          <p:nvPr/>
        </p:nvSpPr>
        <p:spPr>
          <a:xfrm>
            <a:off x="603504" y="1068936"/>
            <a:ext cx="11375136" cy="5632311"/>
          </a:xfrm>
          <a:prstGeom prst="rect">
            <a:avLst/>
          </a:prstGeom>
          <a:noFill/>
        </p:spPr>
        <p:txBody>
          <a:bodyPr wrap="square">
            <a:spAutoFit/>
          </a:bodyPr>
          <a:lstStyle/>
          <a:p>
            <a:pPr>
              <a:buNone/>
            </a:pPr>
            <a:r>
              <a:rPr lang="de-DE" sz="4400" b="1" dirty="0">
                <a:latin typeface="Calibri Light" panose="020F0302020204030204" pitchFamily="34" charset="0"/>
                <a:ea typeface="Calibri Light" panose="020F0302020204030204" pitchFamily="34" charset="0"/>
                <a:cs typeface="Calibri Light" panose="020F0302020204030204" pitchFamily="34" charset="0"/>
              </a:rPr>
              <a:t>Qualität und Passung der Innovation</a:t>
            </a:r>
            <a:endParaRPr lang="de-DE" sz="4400" dirty="0">
              <a:latin typeface="Calibri Light" panose="020F0302020204030204" pitchFamily="34" charset="0"/>
              <a:ea typeface="Calibri Light" panose="020F0302020204030204" pitchFamily="34" charset="0"/>
              <a:cs typeface="Calibri Light" panose="020F0302020204030204" pitchFamily="34" charset="0"/>
            </a:endParaRPr>
          </a:p>
          <a:p>
            <a:pPr>
              <a:buNone/>
            </a:pPr>
            <a:endParaRPr lang="de-DE" b="1" dirty="0">
              <a:latin typeface="Calibri" panose="020F0502020204030204" pitchFamily="34" charset="0"/>
              <a:ea typeface="Calibri" panose="020F0502020204030204" pitchFamily="34" charset="0"/>
              <a:cs typeface="Calibri" panose="020F0502020204030204" pitchFamily="34" charset="0"/>
            </a:endParaRPr>
          </a:p>
          <a:p>
            <a:pPr>
              <a:spcAft>
                <a:spcPts val="600"/>
              </a:spcAft>
              <a:buNone/>
            </a:pPr>
            <a:r>
              <a:rPr lang="de-DE" sz="2400" b="1" u="sng" dirty="0">
                <a:latin typeface="Calibri Light" panose="020F0302020204030204" pitchFamily="34" charset="0"/>
                <a:ea typeface="Calibri Light" panose="020F0302020204030204" pitchFamily="34" charset="0"/>
                <a:cs typeface="Calibri Light" panose="020F0302020204030204" pitchFamily="34" charset="0"/>
              </a:rPr>
              <a:t>Pädagogischer Nutzen als Maßstab</a:t>
            </a:r>
            <a:endParaRPr lang="de-DE" sz="2400" u="sng" dirty="0">
              <a:latin typeface="Calibri Light" panose="020F0302020204030204" pitchFamily="34" charset="0"/>
              <a:ea typeface="Calibri Light" panose="020F0302020204030204" pitchFamily="34" charset="0"/>
              <a:cs typeface="Calibri Light" panose="020F0302020204030204" pitchFamily="34" charset="0"/>
            </a:endParaRPr>
          </a:p>
          <a:p>
            <a:pPr>
              <a:buNone/>
            </a:pPr>
            <a:r>
              <a:rPr lang="de-DE" sz="2400" dirty="0">
                <a:latin typeface="Calibri" panose="020F0502020204030204" pitchFamily="34" charset="0"/>
                <a:ea typeface="Calibri" panose="020F0502020204030204" pitchFamily="34" charset="0"/>
                <a:cs typeface="Calibri" panose="020F0502020204030204" pitchFamily="34" charset="0"/>
              </a:rPr>
              <a:t>Für den Transfer ist wichtig, warum eine Innovation pädagogisch sinnvoll ist und welche Belege oder dokumentierten Erfahrungen für ihren Erfolg sprechen. Erkennbare Vorteile, Wertepassung und eine handhabbare Komplexität erleichtern die Umsetzung.</a:t>
            </a:r>
          </a:p>
          <a:p>
            <a:pPr>
              <a:buNone/>
            </a:pPr>
            <a:r>
              <a:rPr lang="de-DE" sz="2400" i="1" dirty="0">
                <a:latin typeface="Calibri" panose="020F0502020204030204" pitchFamily="34" charset="0"/>
                <a:ea typeface="Calibri" panose="020F0502020204030204" pitchFamily="34" charset="0"/>
                <a:cs typeface="Calibri" panose="020F0502020204030204" pitchFamily="34" charset="0"/>
              </a:rPr>
              <a:t>Vgl. Transfer Guter Praxis, S. 12; </a:t>
            </a:r>
            <a:r>
              <a:rPr lang="de-DE" sz="2400" i="1" dirty="0" err="1">
                <a:latin typeface="Calibri" panose="020F0502020204030204" pitchFamily="34" charset="0"/>
                <a:ea typeface="Calibri" panose="020F0502020204030204" pitchFamily="34" charset="0"/>
                <a:cs typeface="Calibri" panose="020F0502020204030204" pitchFamily="34" charset="0"/>
              </a:rPr>
              <a:t>GuTe</a:t>
            </a:r>
            <a:r>
              <a:rPr lang="de-DE" sz="2400" i="1" dirty="0">
                <a:latin typeface="Calibri" panose="020F0502020204030204" pitchFamily="34" charset="0"/>
                <a:ea typeface="Calibri" panose="020F0502020204030204" pitchFamily="34" charset="0"/>
                <a:cs typeface="Calibri" panose="020F0502020204030204" pitchFamily="34" charset="0"/>
              </a:rPr>
              <a:t> </a:t>
            </a:r>
            <a:r>
              <a:rPr lang="de-DE" sz="2400" i="1" dirty="0" err="1">
                <a:latin typeface="Calibri" panose="020F0502020204030204" pitchFamily="34" charset="0"/>
                <a:ea typeface="Calibri" panose="020F0502020204030204" pitchFamily="34" charset="0"/>
                <a:cs typeface="Calibri" panose="020F0502020204030204" pitchFamily="34" charset="0"/>
              </a:rPr>
              <a:t>DigiSchulen</a:t>
            </a:r>
            <a:r>
              <a:rPr lang="de-DE" sz="2400" i="1" dirty="0">
                <a:latin typeface="Calibri" panose="020F0502020204030204" pitchFamily="34" charset="0"/>
                <a:ea typeface="Calibri" panose="020F0502020204030204" pitchFamily="34" charset="0"/>
                <a:cs typeface="Calibri" panose="020F0502020204030204" pitchFamily="34" charset="0"/>
              </a:rPr>
              <a:t> NRW, S. 22.</a:t>
            </a:r>
            <a:endParaRPr lang="de-DE" sz="2400" dirty="0">
              <a:latin typeface="Calibri" panose="020F0502020204030204" pitchFamily="34" charset="0"/>
              <a:ea typeface="Calibri" panose="020F0502020204030204" pitchFamily="34" charset="0"/>
              <a:cs typeface="Calibri" panose="020F0502020204030204" pitchFamily="34" charset="0"/>
            </a:endParaRPr>
          </a:p>
          <a:p>
            <a:pPr>
              <a:buNone/>
            </a:pPr>
            <a:endParaRPr lang="de-DE" sz="2400" b="1" dirty="0">
              <a:latin typeface="Calibri" panose="020F0502020204030204" pitchFamily="34" charset="0"/>
              <a:ea typeface="Calibri" panose="020F0502020204030204" pitchFamily="34" charset="0"/>
              <a:cs typeface="Calibri" panose="020F0502020204030204" pitchFamily="34" charset="0"/>
            </a:endParaRPr>
          </a:p>
          <a:p>
            <a:pPr>
              <a:spcAft>
                <a:spcPts val="600"/>
              </a:spcAft>
              <a:buNone/>
            </a:pPr>
            <a:r>
              <a:rPr lang="de-DE" sz="2400" b="1" u="sng" dirty="0">
                <a:latin typeface="Calibri Light" panose="020F0302020204030204" pitchFamily="34" charset="0"/>
                <a:ea typeface="Calibri Light" panose="020F0302020204030204" pitchFamily="34" charset="0"/>
                <a:cs typeface="Calibri Light" panose="020F0302020204030204" pitchFamily="34" charset="0"/>
              </a:rPr>
              <a:t>Adaption an die eigene Schule</a:t>
            </a:r>
            <a:endParaRPr lang="de-DE" sz="2400" u="sng" dirty="0">
              <a:latin typeface="Calibri Light" panose="020F0302020204030204" pitchFamily="34" charset="0"/>
              <a:ea typeface="Calibri Light" panose="020F0302020204030204" pitchFamily="34" charset="0"/>
              <a:cs typeface="Calibri Light" panose="020F0302020204030204" pitchFamily="34" charset="0"/>
            </a:endParaRPr>
          </a:p>
          <a:p>
            <a:pPr>
              <a:buNone/>
            </a:pPr>
            <a:r>
              <a:rPr lang="de-DE" sz="2400" dirty="0">
                <a:latin typeface="Calibri" panose="020F0502020204030204" pitchFamily="34" charset="0"/>
                <a:ea typeface="Calibri" panose="020F0502020204030204" pitchFamily="34" charset="0"/>
                <a:cs typeface="Calibri" panose="020F0502020204030204" pitchFamily="34" charset="0"/>
              </a:rPr>
              <a:t>Bewährte Praxis lässt sich meist nicht unverändert übertragen. Häufig sind Anpassungen an die Lernenden, Kompetenzen, Ressourcen und Strukturen der eigenen Schule erforderlich. Dabei bleibt zu prüfen, ob die Innovation unter den veränderten Bedingungen wirksam sein kann.</a:t>
            </a:r>
          </a:p>
          <a:p>
            <a:pPr>
              <a:buNone/>
            </a:pPr>
            <a:r>
              <a:rPr lang="de-DE" sz="2400" i="1" dirty="0">
                <a:latin typeface="Calibri" panose="020F0502020204030204" pitchFamily="34" charset="0"/>
                <a:ea typeface="Calibri" panose="020F0502020204030204" pitchFamily="34" charset="0"/>
                <a:cs typeface="Calibri" panose="020F0502020204030204" pitchFamily="34" charset="0"/>
              </a:rPr>
              <a:t>Vgl. Transfer Guter Praxis, S. 12–13.</a:t>
            </a:r>
          </a:p>
        </p:txBody>
      </p:sp>
    </p:spTree>
    <p:extLst>
      <p:ext uri="{BB962C8B-B14F-4D97-AF65-F5344CB8AC3E}">
        <p14:creationId xmlns:p14="http://schemas.microsoft.com/office/powerpoint/2010/main" val="2115435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5DC4B-4608-8E37-AA2B-1041CF771CEF}"/>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C0B935EC-08D8-3DEB-3E2E-4122718FB7DF}"/>
              </a:ext>
            </a:extLst>
          </p:cNvPr>
          <p:cNvSpPr txBox="1"/>
          <p:nvPr/>
        </p:nvSpPr>
        <p:spPr>
          <a:xfrm>
            <a:off x="603504" y="1068936"/>
            <a:ext cx="11375136" cy="5632311"/>
          </a:xfrm>
          <a:prstGeom prst="rect">
            <a:avLst/>
          </a:prstGeom>
          <a:noFill/>
        </p:spPr>
        <p:txBody>
          <a:bodyPr wrap="square">
            <a:spAutoFit/>
          </a:bodyPr>
          <a:lstStyle/>
          <a:p>
            <a:pPr>
              <a:buNone/>
            </a:pPr>
            <a:r>
              <a:rPr lang="de-DE" sz="4400" b="1" dirty="0">
                <a:latin typeface="Calibri Light" panose="020F0302020204030204" pitchFamily="34" charset="0"/>
                <a:ea typeface="Calibri Light" panose="020F0302020204030204" pitchFamily="34" charset="0"/>
                <a:cs typeface="Calibri Light" panose="020F0302020204030204" pitchFamily="34" charset="0"/>
              </a:rPr>
              <a:t>Motivation und individuelle Annäherung</a:t>
            </a:r>
            <a:endParaRPr lang="de-DE" sz="4400" dirty="0">
              <a:latin typeface="Calibri Light" panose="020F0302020204030204" pitchFamily="34" charset="0"/>
              <a:ea typeface="Calibri Light" panose="020F0302020204030204" pitchFamily="34" charset="0"/>
              <a:cs typeface="Calibri Light" panose="020F03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spcAft>
                <a:spcPts val="600"/>
              </a:spcAft>
              <a:buNone/>
            </a:pPr>
            <a:r>
              <a:rPr lang="de-DE" sz="2200" b="1" u="sng" dirty="0">
                <a:latin typeface="Calibri Light" panose="020F0302020204030204" pitchFamily="34" charset="0"/>
                <a:ea typeface="Calibri Light" panose="020F0302020204030204" pitchFamily="34" charset="0"/>
                <a:cs typeface="Calibri Light" panose="020F0302020204030204" pitchFamily="34" charset="0"/>
              </a:rPr>
              <a:t>Motivation lässt sich fördern</a:t>
            </a:r>
          </a:p>
          <a:p>
            <a:pPr>
              <a:buNone/>
            </a:pPr>
            <a:r>
              <a:rPr lang="de-DE" sz="2200" dirty="0">
                <a:latin typeface="Calibri" panose="020F0502020204030204" pitchFamily="34" charset="0"/>
                <a:ea typeface="Calibri" panose="020F0502020204030204" pitchFamily="34" charset="0"/>
                <a:cs typeface="Calibri" panose="020F0502020204030204" pitchFamily="34" charset="0"/>
              </a:rPr>
              <a:t>Die Motivation der Lehrkräfte wird als entscheidender Faktor für den Transfererfolg hervorgehoben. Relevanz, Kompetenzerleben, Autonomie, Mitbestimmung und soziale Einbindung sind dabei bedeutsam. Beteiligung, Austausch und kooperative Arbeitsformen können die Motivation fördern.</a:t>
            </a:r>
          </a:p>
          <a:p>
            <a:pPr>
              <a:buNone/>
            </a:pPr>
            <a:r>
              <a:rPr lang="de-DE" sz="2200" i="1" dirty="0">
                <a:latin typeface="Calibri" panose="020F0502020204030204" pitchFamily="34" charset="0"/>
                <a:ea typeface="Calibri" panose="020F0502020204030204" pitchFamily="34" charset="0"/>
                <a:cs typeface="Calibri" panose="020F0502020204030204" pitchFamily="34" charset="0"/>
              </a:rPr>
              <a:t>Vgl. Transfer Guter Praxis, S. 4, 11 und 13.</a:t>
            </a:r>
          </a:p>
          <a:p>
            <a:pPr>
              <a:buNone/>
            </a:pPr>
            <a:endParaRPr lang="de-DE" sz="2200" dirty="0">
              <a:latin typeface="Calibri" panose="020F0502020204030204" pitchFamily="34" charset="0"/>
              <a:ea typeface="Calibri" panose="020F0502020204030204" pitchFamily="34" charset="0"/>
              <a:cs typeface="Calibri" panose="020F0502020204030204" pitchFamily="34" charset="0"/>
            </a:endParaRPr>
          </a:p>
          <a:p>
            <a:pPr>
              <a:spcAft>
                <a:spcPts val="600"/>
              </a:spcAft>
              <a:buNone/>
            </a:pPr>
            <a:r>
              <a:rPr lang="de-DE" sz="2200" b="1" u="sng" dirty="0">
                <a:latin typeface="Calibri Light" panose="020F0302020204030204" pitchFamily="34" charset="0"/>
                <a:ea typeface="Calibri Light" panose="020F0302020204030204" pitchFamily="34" charset="0"/>
                <a:cs typeface="Calibri Light" panose="020F0302020204030204" pitchFamily="34" charset="0"/>
              </a:rPr>
              <a:t>Die Übernahme braucht Zeit und Unterstützung</a:t>
            </a:r>
          </a:p>
          <a:p>
            <a:pPr>
              <a:buNone/>
            </a:pPr>
            <a:r>
              <a:rPr lang="de-DE" sz="2200" dirty="0">
                <a:latin typeface="Calibri" panose="020F0502020204030204" pitchFamily="34" charset="0"/>
                <a:ea typeface="Calibri" panose="020F0502020204030204" pitchFamily="34" charset="0"/>
                <a:cs typeface="Calibri" panose="020F0502020204030204" pitchFamily="34" charset="0"/>
              </a:rPr>
              <a:t>Lehrkräfte setzen sich unterschiedlich mit einer Innovation auseinander. Ihre Anliegen können von ersten Informationsbedürfnissen bis zu Fragen der Umsetzung und Wirkung reichen. Feedback, Austausch und Reflexion können diesen individuellen Annäherungsprozess unterstützen.</a:t>
            </a:r>
          </a:p>
          <a:p>
            <a:pPr>
              <a:buNone/>
            </a:pPr>
            <a:r>
              <a:rPr lang="de-DE" sz="2200" i="1" dirty="0">
                <a:latin typeface="Calibri" panose="020F0502020204030204" pitchFamily="34" charset="0"/>
                <a:ea typeface="Calibri" panose="020F0502020204030204" pitchFamily="34" charset="0"/>
                <a:cs typeface="Calibri" panose="020F0502020204030204" pitchFamily="34" charset="0"/>
              </a:rPr>
              <a:t>Vgl. Transfer Guter Praxis, S. 13–14.</a:t>
            </a:r>
            <a:endParaRPr lang="de-DE" sz="2200" dirty="0">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4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61423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2C0A8-1D2A-3F3C-0334-C75E9D5C743B}"/>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182EDA24-039D-C358-4191-872C0AE5802C}"/>
              </a:ext>
            </a:extLst>
          </p:cNvPr>
          <p:cNvSpPr txBox="1"/>
          <p:nvPr/>
        </p:nvSpPr>
        <p:spPr>
          <a:xfrm>
            <a:off x="603504" y="1068936"/>
            <a:ext cx="11375136" cy="5601533"/>
          </a:xfrm>
          <a:prstGeom prst="rect">
            <a:avLst/>
          </a:prstGeom>
          <a:noFill/>
        </p:spPr>
        <p:txBody>
          <a:bodyPr wrap="square">
            <a:spAutoFit/>
          </a:bodyPr>
          <a:lstStyle/>
          <a:p>
            <a:pPr>
              <a:buNone/>
            </a:pPr>
            <a:r>
              <a:rPr lang="de-DE" sz="4400" b="1" dirty="0">
                <a:latin typeface="Calibri Light" panose="020F0302020204030204" pitchFamily="34" charset="0"/>
                <a:ea typeface="Calibri Light" panose="020F0302020204030204" pitchFamily="34" charset="0"/>
                <a:cs typeface="Calibri Light" panose="020F0302020204030204" pitchFamily="34" charset="0"/>
              </a:rPr>
              <a:t>Verantwortung und gemeinsames Lernen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de-DE" sz="2200" b="1" u="sng" dirty="0">
                <a:latin typeface="Calibri Light" panose="020F0302020204030204" pitchFamily="34" charset="0"/>
                <a:ea typeface="Calibri Light" panose="020F0302020204030204" pitchFamily="34" charset="0"/>
                <a:cs typeface="Calibri Light" panose="020F0302020204030204" pitchFamily="34" charset="0"/>
              </a:rPr>
              <a:t>Schulleitung und Change </a:t>
            </a:r>
            <a:r>
              <a:rPr lang="de-DE" sz="2200" b="1" u="sng" dirty="0" err="1">
                <a:latin typeface="Calibri Light" panose="020F0302020204030204" pitchFamily="34" charset="0"/>
                <a:ea typeface="Calibri Light" panose="020F0302020204030204" pitchFamily="34" charset="0"/>
                <a:cs typeface="Calibri Light" panose="020F0302020204030204" pitchFamily="34" charset="0"/>
              </a:rPr>
              <a:t>Agents</a:t>
            </a:r>
            <a:r>
              <a:rPr lang="de-DE" sz="2200" b="1" u="sng" dirty="0">
                <a:latin typeface="Calibri Light" panose="020F0302020204030204" pitchFamily="34" charset="0"/>
                <a:ea typeface="Calibri Light" panose="020F0302020204030204" pitchFamily="34" charset="0"/>
                <a:cs typeface="Calibri Light" panose="020F0302020204030204" pitchFamily="34" charset="0"/>
              </a:rPr>
              <a:t> tragen Entwicklung</a:t>
            </a:r>
          </a:p>
          <a:p>
            <a:pPr>
              <a:buNone/>
            </a:pPr>
            <a:r>
              <a:rPr lang="de-DE" sz="2200" dirty="0">
                <a:latin typeface="Calibri" panose="020F0502020204030204" pitchFamily="34" charset="0"/>
                <a:ea typeface="Calibri" panose="020F0502020204030204" pitchFamily="34" charset="0"/>
                <a:cs typeface="Calibri" panose="020F0502020204030204" pitchFamily="34" charset="0"/>
              </a:rPr>
              <a:t>Die Schulleitung gibt Orientierung, begleitet den Prozess und klärt Zuständigkeiten. Change </a:t>
            </a:r>
            <a:r>
              <a:rPr lang="de-DE" sz="2200" dirty="0" err="1">
                <a:latin typeface="Calibri" panose="020F0502020204030204" pitchFamily="34" charset="0"/>
                <a:ea typeface="Calibri" panose="020F0502020204030204" pitchFamily="34" charset="0"/>
                <a:cs typeface="Calibri" panose="020F0502020204030204" pitchFamily="34" charset="0"/>
              </a:rPr>
              <a:t>Agents</a:t>
            </a:r>
            <a:r>
              <a:rPr lang="de-DE" sz="2200" dirty="0">
                <a:latin typeface="Calibri" panose="020F0502020204030204" pitchFamily="34" charset="0"/>
                <a:ea typeface="Calibri" panose="020F0502020204030204" pitchFamily="34" charset="0"/>
                <a:cs typeface="Calibri" panose="020F0502020204030204" pitchFamily="34" charset="0"/>
              </a:rPr>
              <a:t> sind Personen, die Veränderung aktiv voranbringen. Mit Expertise, Vernetzung und Engagement können sie eine wichtige Motorfunktion übernehmen: Unterstützung gewinnen, Umsetzungsschritte mitentwickeln und förderliche Strukturen schaffen.</a:t>
            </a:r>
          </a:p>
          <a:p>
            <a:pPr>
              <a:buNone/>
            </a:pPr>
            <a:r>
              <a:rPr lang="de-DE" sz="2200" i="1" dirty="0">
                <a:latin typeface="Calibri" panose="020F0502020204030204" pitchFamily="34" charset="0"/>
                <a:ea typeface="Calibri" panose="020F0502020204030204" pitchFamily="34" charset="0"/>
                <a:cs typeface="Calibri" panose="020F0502020204030204" pitchFamily="34" charset="0"/>
              </a:rPr>
              <a:t>Vgl. Transfer Guter Praxis, S. 15–18; </a:t>
            </a:r>
            <a:r>
              <a:rPr lang="de-DE" sz="2200" i="1" dirty="0" err="1">
                <a:latin typeface="Calibri" panose="020F0502020204030204" pitchFamily="34" charset="0"/>
                <a:ea typeface="Calibri" panose="020F0502020204030204" pitchFamily="34" charset="0"/>
                <a:cs typeface="Calibri" panose="020F0502020204030204" pitchFamily="34" charset="0"/>
              </a:rPr>
              <a:t>GuTe</a:t>
            </a:r>
            <a:r>
              <a:rPr lang="de-DE" sz="2200" i="1" dirty="0">
                <a:latin typeface="Calibri" panose="020F0502020204030204" pitchFamily="34" charset="0"/>
                <a:ea typeface="Calibri" panose="020F0502020204030204" pitchFamily="34" charset="0"/>
                <a:cs typeface="Calibri" panose="020F0502020204030204" pitchFamily="34" charset="0"/>
              </a:rPr>
              <a:t> </a:t>
            </a:r>
            <a:r>
              <a:rPr lang="de-DE" sz="2200" i="1" dirty="0" err="1">
                <a:latin typeface="Calibri" panose="020F0502020204030204" pitchFamily="34" charset="0"/>
                <a:ea typeface="Calibri" panose="020F0502020204030204" pitchFamily="34" charset="0"/>
                <a:cs typeface="Calibri" panose="020F0502020204030204" pitchFamily="34" charset="0"/>
              </a:rPr>
              <a:t>DigiSchulen</a:t>
            </a:r>
            <a:r>
              <a:rPr lang="de-DE" sz="2200" i="1" dirty="0">
                <a:latin typeface="Calibri" panose="020F0502020204030204" pitchFamily="34" charset="0"/>
                <a:ea typeface="Calibri" panose="020F0502020204030204" pitchFamily="34" charset="0"/>
                <a:cs typeface="Calibri" panose="020F0502020204030204" pitchFamily="34" charset="0"/>
              </a:rPr>
              <a:t> NRW, S. 28.</a:t>
            </a:r>
            <a:endParaRPr lang="de-DE" sz="2200" dirty="0">
              <a:latin typeface="Calibri" panose="020F0502020204030204" pitchFamily="34" charset="0"/>
              <a:ea typeface="Calibri" panose="020F0502020204030204" pitchFamily="34" charset="0"/>
              <a:cs typeface="Calibri" panose="020F0502020204030204" pitchFamily="34" charset="0"/>
            </a:endParaRPr>
          </a:p>
          <a:p>
            <a:pPr>
              <a:buNone/>
            </a:pPr>
            <a:endParaRPr lang="de-DE" sz="2200" dirty="0">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de-DE" sz="2200" b="1" u="sng" dirty="0">
                <a:latin typeface="Calibri Light" panose="020F0302020204030204" pitchFamily="34" charset="0"/>
                <a:ea typeface="Calibri Light" panose="020F0302020204030204" pitchFamily="34" charset="0"/>
                <a:cs typeface="Calibri Light" panose="020F0302020204030204" pitchFamily="34" charset="0"/>
              </a:rPr>
              <a:t>Vorhandene Expertise nutzen und weiterentwickeln</a:t>
            </a:r>
          </a:p>
          <a:p>
            <a:pPr>
              <a:buNone/>
            </a:pPr>
            <a:r>
              <a:rPr lang="de-DE" sz="2200" dirty="0">
                <a:latin typeface="Calibri" panose="020F0502020204030204" pitchFamily="34" charset="0"/>
                <a:ea typeface="Calibri" panose="020F0502020204030204" pitchFamily="34" charset="0"/>
                <a:cs typeface="Calibri" panose="020F0502020204030204" pitchFamily="34" charset="0"/>
              </a:rPr>
              <a:t>Gemeinsame Unterrichtsplanung, Wissensaustausch und bedarfsgerechte Fortbildung unterstützen die Umsetzung. Dabei werden Kompetenzen im Kollegium und die digitale Expertise der Schüler*innen genutzt. Verlässliche Zusammenarbeit braucht Zeit und passende Unterstützung.</a:t>
            </a:r>
          </a:p>
          <a:p>
            <a:pPr>
              <a:buNone/>
            </a:pPr>
            <a:r>
              <a:rPr lang="de-DE" sz="2200" i="1" dirty="0">
                <a:latin typeface="Calibri" panose="020F0502020204030204" pitchFamily="34" charset="0"/>
                <a:ea typeface="Calibri" panose="020F0502020204030204" pitchFamily="34" charset="0"/>
                <a:cs typeface="Calibri" panose="020F0502020204030204" pitchFamily="34" charset="0"/>
              </a:rPr>
              <a:t>Vgl. Transfer Guter Praxis, S. 15; </a:t>
            </a:r>
            <a:r>
              <a:rPr lang="de-DE" sz="2200" i="1" dirty="0" err="1">
                <a:latin typeface="Calibri" panose="020F0502020204030204" pitchFamily="34" charset="0"/>
                <a:ea typeface="Calibri" panose="020F0502020204030204" pitchFamily="34" charset="0"/>
                <a:cs typeface="Calibri" panose="020F0502020204030204" pitchFamily="34" charset="0"/>
              </a:rPr>
              <a:t>GuTe</a:t>
            </a:r>
            <a:r>
              <a:rPr lang="de-DE" sz="2200" i="1" dirty="0">
                <a:latin typeface="Calibri" panose="020F0502020204030204" pitchFamily="34" charset="0"/>
                <a:ea typeface="Calibri" panose="020F0502020204030204" pitchFamily="34" charset="0"/>
                <a:cs typeface="Calibri" panose="020F0502020204030204" pitchFamily="34" charset="0"/>
              </a:rPr>
              <a:t> </a:t>
            </a:r>
            <a:r>
              <a:rPr lang="de-DE" sz="2200" i="1" dirty="0" err="1">
                <a:latin typeface="Calibri" panose="020F0502020204030204" pitchFamily="34" charset="0"/>
                <a:ea typeface="Calibri" panose="020F0502020204030204" pitchFamily="34" charset="0"/>
                <a:cs typeface="Calibri" panose="020F0502020204030204" pitchFamily="34" charset="0"/>
              </a:rPr>
              <a:t>DigiSchulen</a:t>
            </a:r>
            <a:r>
              <a:rPr lang="de-DE" sz="2200" i="1" dirty="0">
                <a:latin typeface="Calibri" panose="020F0502020204030204" pitchFamily="34" charset="0"/>
                <a:ea typeface="Calibri" panose="020F0502020204030204" pitchFamily="34" charset="0"/>
                <a:cs typeface="Calibri" panose="020F0502020204030204" pitchFamily="34" charset="0"/>
              </a:rPr>
              <a:t> NRW, S. 16, 22 und 34.</a:t>
            </a:r>
            <a:endParaRPr kumimoji="0" lang="de-DE" sz="2400" b="0" i="1"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651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D95018-7BE8-C4F9-27A1-D4084F0CEA05}"/>
            </a:ext>
          </a:extLst>
        </p:cNvPr>
        <p:cNvGrpSpPr/>
        <p:nvPr/>
      </p:nvGrpSpPr>
      <p:grpSpPr>
        <a:xfrm>
          <a:off x="0" y="0"/>
          <a:ext cx="0" cy="0"/>
          <a:chOff x="0" y="0"/>
          <a:chExt cx="0" cy="0"/>
        </a:xfrm>
      </p:grpSpPr>
      <p:sp>
        <p:nvSpPr>
          <p:cNvPr id="5" name="Textfeld 4">
            <a:extLst>
              <a:ext uri="{FF2B5EF4-FFF2-40B4-BE49-F238E27FC236}">
                <a16:creationId xmlns:a16="http://schemas.microsoft.com/office/drawing/2014/main" id="{B218E2A7-1B85-E2EE-3AA8-D4A36771F6EE}"/>
              </a:ext>
            </a:extLst>
          </p:cNvPr>
          <p:cNvSpPr txBox="1"/>
          <p:nvPr/>
        </p:nvSpPr>
        <p:spPr>
          <a:xfrm>
            <a:off x="603504" y="1068936"/>
            <a:ext cx="11375136" cy="4924425"/>
          </a:xfrm>
          <a:prstGeom prst="rect">
            <a:avLst/>
          </a:prstGeom>
          <a:noFill/>
        </p:spPr>
        <p:txBody>
          <a:bodyPr wrap="square">
            <a:spAutoFit/>
          </a:bodyPr>
          <a:lstStyle/>
          <a:p>
            <a:r>
              <a:rPr lang="de-DE" sz="4400" b="1" dirty="0">
                <a:latin typeface="Calibri Light" panose="020F0302020204030204" pitchFamily="34" charset="0"/>
                <a:ea typeface="Calibri Light" panose="020F0302020204030204" pitchFamily="34" charset="0"/>
                <a:cs typeface="Calibri Light" panose="020F0302020204030204" pitchFamily="34" charset="0"/>
              </a:rPr>
              <a:t>Erprobung und verbindliche Weiterentwicklung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de-DE" sz="2200" b="1" u="sng" dirty="0">
                <a:latin typeface="Calibri Light" panose="020F0302020204030204" pitchFamily="34" charset="0"/>
                <a:ea typeface="Calibri Light" panose="020F0302020204030204" pitchFamily="34" charset="0"/>
                <a:cs typeface="Calibri Light" panose="020F0302020204030204" pitchFamily="34" charset="0"/>
              </a:rPr>
              <a:t>Ausprobieren und systematisch überprüfen</a:t>
            </a:r>
          </a:p>
          <a:p>
            <a:r>
              <a:rPr lang="de-DE" sz="2200" dirty="0">
                <a:latin typeface="Calibri" panose="020F0502020204030204" pitchFamily="34" charset="0"/>
                <a:ea typeface="Calibri" panose="020F0502020204030204" pitchFamily="34" charset="0"/>
                <a:cs typeface="Calibri" panose="020F0502020204030204" pitchFamily="34" charset="0"/>
              </a:rPr>
              <a:t>Eine Kultur des Ausprobierens und der Fehlertoleranz unterstützt die Erprobung neuer Ansätze. Zugleich geben vereinbarte Ziele und Fristen Orientierung. Rückmeldungen und Evaluation helfen, Ergebnisse und das strategische Vorgehen zu überprüfen und nächste Schritte zu begründen.</a:t>
            </a:r>
          </a:p>
          <a:p>
            <a:r>
              <a:rPr lang="de-DE" sz="2200" i="1" dirty="0">
                <a:latin typeface="Calibri" panose="020F0502020204030204" pitchFamily="34" charset="0"/>
                <a:ea typeface="Calibri" panose="020F0502020204030204" pitchFamily="34" charset="0"/>
                <a:cs typeface="Calibri" panose="020F0502020204030204" pitchFamily="34" charset="0"/>
              </a:rPr>
              <a:t>Vgl. </a:t>
            </a:r>
            <a:r>
              <a:rPr lang="de-DE" sz="2200" i="1" dirty="0" err="1">
                <a:latin typeface="Calibri" panose="020F0502020204030204" pitchFamily="34" charset="0"/>
                <a:ea typeface="Calibri" panose="020F0502020204030204" pitchFamily="34" charset="0"/>
                <a:cs typeface="Calibri" panose="020F0502020204030204" pitchFamily="34" charset="0"/>
              </a:rPr>
              <a:t>GuTe</a:t>
            </a:r>
            <a:r>
              <a:rPr lang="de-DE" sz="2200" i="1" dirty="0">
                <a:latin typeface="Calibri" panose="020F0502020204030204" pitchFamily="34" charset="0"/>
                <a:ea typeface="Calibri" panose="020F0502020204030204" pitchFamily="34" charset="0"/>
                <a:cs typeface="Calibri" panose="020F0502020204030204" pitchFamily="34" charset="0"/>
              </a:rPr>
              <a:t> </a:t>
            </a:r>
            <a:r>
              <a:rPr lang="de-DE" sz="2200" i="1" dirty="0" err="1">
                <a:latin typeface="Calibri" panose="020F0502020204030204" pitchFamily="34" charset="0"/>
                <a:ea typeface="Calibri" panose="020F0502020204030204" pitchFamily="34" charset="0"/>
                <a:cs typeface="Calibri" panose="020F0502020204030204" pitchFamily="34" charset="0"/>
              </a:rPr>
              <a:t>DigiSchulen</a:t>
            </a:r>
            <a:r>
              <a:rPr lang="de-DE" sz="2200" i="1" dirty="0">
                <a:latin typeface="Calibri" panose="020F0502020204030204" pitchFamily="34" charset="0"/>
                <a:ea typeface="Calibri" panose="020F0502020204030204" pitchFamily="34" charset="0"/>
                <a:cs typeface="Calibri" panose="020F0502020204030204" pitchFamily="34" charset="0"/>
              </a:rPr>
              <a:t> NRW, S. 10, 16, 28 und 40; Transfer Guter Praxis, S. 24–25.</a:t>
            </a:r>
            <a:endParaRPr lang="de-DE" sz="2200" dirty="0">
              <a:latin typeface="Calibri" panose="020F0502020204030204" pitchFamily="34" charset="0"/>
              <a:ea typeface="Calibri" panose="020F0502020204030204" pitchFamily="34" charset="0"/>
              <a:cs typeface="Calibri" panose="020F0502020204030204" pitchFamily="34" charset="0"/>
            </a:endParaRPr>
          </a:p>
          <a:p>
            <a:pPr>
              <a:buNone/>
            </a:pPr>
            <a:endParaRPr lang="de-DE" sz="2200" dirty="0">
              <a:latin typeface="Calibri" panose="020F0502020204030204" pitchFamily="34" charset="0"/>
              <a:ea typeface="Calibri" panose="020F0502020204030204" pitchFamily="34" charset="0"/>
              <a:cs typeface="Calibri" panose="020F0502020204030204" pitchFamily="34" charset="0"/>
            </a:endParaRPr>
          </a:p>
          <a:p>
            <a:pPr>
              <a:spcAft>
                <a:spcPts val="600"/>
              </a:spcAft>
            </a:pPr>
            <a:r>
              <a:rPr lang="de-DE" sz="2200" b="1" u="sng" dirty="0">
                <a:latin typeface="Calibri Light" panose="020F0302020204030204" pitchFamily="34" charset="0"/>
                <a:ea typeface="Calibri Light" panose="020F0302020204030204" pitchFamily="34" charset="0"/>
                <a:cs typeface="Calibri Light" panose="020F0302020204030204" pitchFamily="34" charset="0"/>
              </a:rPr>
              <a:t>Von der Erprobung zur Verankerung</a:t>
            </a:r>
            <a:endParaRPr lang="de-DE" sz="2200" u="sng" dirty="0">
              <a:latin typeface="Calibri Light" panose="020F0302020204030204" pitchFamily="34" charset="0"/>
              <a:ea typeface="Calibri Light" panose="020F0302020204030204" pitchFamily="34" charset="0"/>
              <a:cs typeface="Calibri Light" panose="020F0302020204030204" pitchFamily="34" charset="0"/>
            </a:endParaRPr>
          </a:p>
          <a:p>
            <a:r>
              <a:rPr lang="de-DE" sz="2200" dirty="0">
                <a:latin typeface="Calibri" panose="020F0502020204030204" pitchFamily="34" charset="0"/>
                <a:ea typeface="Calibri" panose="020F0502020204030204" pitchFamily="34" charset="0"/>
                <a:cs typeface="Calibri" panose="020F0502020204030204" pitchFamily="34" charset="0"/>
              </a:rPr>
              <a:t>Aus ausgewerteten Erfahrungen ergeben sich Entscheidungen über Anpassung, Weiterführung oder Ausweitung. Für eine dauerhafte Umsetzung sind dokumentierte Konzepte, verbindliche Vereinbarungen und eine Einbettung in schulische Strukturen bedeutsam.</a:t>
            </a:r>
          </a:p>
          <a:p>
            <a:r>
              <a:rPr lang="de-DE" sz="2200" i="1" dirty="0">
                <a:latin typeface="Calibri" panose="020F0502020204030204" pitchFamily="34" charset="0"/>
                <a:ea typeface="Calibri" panose="020F0502020204030204" pitchFamily="34" charset="0"/>
                <a:cs typeface="Calibri" panose="020F0502020204030204" pitchFamily="34" charset="0"/>
              </a:rPr>
              <a:t>Vgl. Transfer Guter Praxis, S. 24–25 und 39.</a:t>
            </a:r>
            <a:endParaRPr lang="de-DE" sz="2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2531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FC79E6-1ED4-5581-89C3-F7CFFEC7588D}"/>
            </a:ext>
          </a:extLst>
        </p:cNvPr>
        <p:cNvGrpSpPr/>
        <p:nvPr/>
      </p:nvGrpSpPr>
      <p:grpSpPr>
        <a:xfrm>
          <a:off x="0" y="0"/>
          <a:ext cx="0" cy="0"/>
          <a:chOff x="0" y="0"/>
          <a:chExt cx="0" cy="0"/>
        </a:xfrm>
      </p:grpSpPr>
      <p:pic>
        <p:nvPicPr>
          <p:cNvPr id="3" name="Grafik 2" descr="Ein Bild, das Text, Screenshot, Finger enthält.&#10;&#10;KI-generierte Inhalte können fehlerhaft sein.">
            <a:extLst>
              <a:ext uri="{FF2B5EF4-FFF2-40B4-BE49-F238E27FC236}">
                <a16:creationId xmlns:a16="http://schemas.microsoft.com/office/drawing/2014/main" id="{6048AD66-1BF8-42D7-8C69-F181292EBBB9}"/>
              </a:ext>
            </a:extLst>
          </p:cNvPr>
          <p:cNvPicPr>
            <a:picLocks noChangeAspect="1"/>
          </p:cNvPicPr>
          <p:nvPr/>
        </p:nvPicPr>
        <p:blipFill>
          <a:blip r:embed="rId3"/>
          <a:srcRect b="19"/>
          <a:stretch>
            <a:fillRect/>
          </a:stretch>
        </p:blipFill>
        <p:spPr>
          <a:xfrm>
            <a:off x="1779420" y="2486136"/>
            <a:ext cx="7773644" cy="4371864"/>
          </a:xfrm>
          <a:prstGeom prst="rect">
            <a:avLst/>
          </a:prstGeom>
        </p:spPr>
      </p:pic>
      <p:sp>
        <p:nvSpPr>
          <p:cNvPr id="4" name="Textfeld 3">
            <a:extLst>
              <a:ext uri="{FF2B5EF4-FFF2-40B4-BE49-F238E27FC236}">
                <a16:creationId xmlns:a16="http://schemas.microsoft.com/office/drawing/2014/main" id="{7F5099E7-0EC4-B547-E847-2C7B9CED292F}"/>
              </a:ext>
            </a:extLst>
          </p:cNvPr>
          <p:cNvSpPr txBox="1"/>
          <p:nvPr/>
        </p:nvSpPr>
        <p:spPr>
          <a:xfrm>
            <a:off x="477022" y="87390"/>
            <a:ext cx="11237956" cy="2400657"/>
          </a:xfrm>
          <a:prstGeom prst="rect">
            <a:avLst/>
          </a:prstGeom>
          <a:noFill/>
        </p:spPr>
        <p:txBody>
          <a:bodyPr wrap="square">
            <a:spAutoFit/>
          </a:bodyPr>
          <a:lstStyle/>
          <a:p>
            <a:pPr algn="ctr">
              <a:spcAft>
                <a:spcPts val="600"/>
              </a:spcAft>
              <a:buNone/>
            </a:pPr>
            <a:r>
              <a:rPr lang="de-DE" sz="4000" b="1" dirty="0">
                <a:latin typeface="Calibri Light" panose="020F0302020204030204" pitchFamily="34" charset="0"/>
                <a:ea typeface="Calibri Light" panose="020F0302020204030204" pitchFamily="34" charset="0"/>
                <a:cs typeface="Calibri Light" panose="020F0302020204030204" pitchFamily="34" charset="0"/>
              </a:rPr>
              <a:t>Wie kommen wir unter Unsicherheit ins Handeln?</a:t>
            </a:r>
          </a:p>
          <a:p>
            <a:pPr algn="ctr">
              <a:spcAft>
                <a:spcPts val="600"/>
              </a:spcAft>
              <a:buNone/>
            </a:pPr>
            <a:r>
              <a:rPr lang="de-DE" sz="2000" dirty="0"/>
              <a:t>Die Forschungsbefunde zeigen, welche Bedingungen Schulentwicklung unterstützen. </a:t>
            </a:r>
            <a:br>
              <a:rPr lang="de-DE" sz="2000" dirty="0"/>
            </a:br>
            <a:r>
              <a:rPr lang="de-DE" sz="2000" dirty="0"/>
              <a:t>Welche Vorgehensweise passt, hängt auch davon ab, wie klar die Anforderungen und möglichen Lösungswege bereits sind.</a:t>
            </a:r>
          </a:p>
          <a:p>
            <a:pPr algn="ctr">
              <a:spcAft>
                <a:spcPts val="600"/>
              </a:spcAft>
              <a:buNone/>
            </a:pPr>
            <a:r>
              <a:rPr lang="de-DE" sz="2000" dirty="0"/>
              <a:t>Für offene Entwicklungssituationen greifen wir </a:t>
            </a:r>
            <a:r>
              <a:rPr lang="de-DE" sz="2000" dirty="0" err="1"/>
              <a:t>Effectuation</a:t>
            </a:r>
            <a:r>
              <a:rPr lang="de-DE" sz="2000" dirty="0"/>
              <a:t> auf und stellen die Prinzipien vor: </a:t>
            </a:r>
            <a:br>
              <a:rPr lang="de-DE" sz="2000" dirty="0"/>
            </a:br>
            <a:r>
              <a:rPr lang="de-DE" sz="2000" dirty="0"/>
              <a:t>Eine Handlungslogik, mit der sich aus vorhandenen Mitteln gemeinsam nächste Schritte entwickeln lassen.</a:t>
            </a:r>
          </a:p>
        </p:txBody>
      </p:sp>
    </p:spTree>
    <p:extLst>
      <p:ext uri="{BB962C8B-B14F-4D97-AF65-F5344CB8AC3E}">
        <p14:creationId xmlns:p14="http://schemas.microsoft.com/office/powerpoint/2010/main" val="3122642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34381-9FEE-2459-DC8B-E2AD12E0DBB4}"/>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4BB0082B-7A57-830A-5D7F-76C7C2B9B9D1}"/>
              </a:ext>
            </a:extLst>
          </p:cNvPr>
          <p:cNvSpPr txBox="1"/>
          <p:nvPr/>
        </p:nvSpPr>
        <p:spPr>
          <a:xfrm>
            <a:off x="2006600" y="4815514"/>
            <a:ext cx="3465438" cy="581621"/>
          </a:xfrm>
          <a:prstGeom prst="rect">
            <a:avLst/>
          </a:prstGeom>
        </p:spPr>
        <p:txBody>
          <a:bodyPr vert="horz" lIns="68580" tIns="34290" rIns="68580" bIns="34290" rtlCol="0">
            <a:normAutofit/>
          </a:bodyPr>
          <a:lstStyle/>
          <a:p>
            <a:pPr marL="0" marR="0" lvl="0" indent="0" algn="l" defTabSz="914400" rtl="0" eaLnBrk="1" fontAlgn="auto" latinLnBrk="0" hangingPunct="1">
              <a:lnSpc>
                <a:spcPct val="90000"/>
              </a:lnSpc>
              <a:spcBef>
                <a:spcPts val="750"/>
              </a:spcBef>
              <a:spcAft>
                <a:spcPts val="450"/>
              </a:spcAft>
              <a:buClrTx/>
              <a:buSzTx/>
              <a:buFontTx/>
              <a:buNone/>
              <a:tabLst/>
              <a:defRPr/>
            </a:pPr>
            <a:endParaRPr kumimoji="0" lang="en-US" sz="1800" b="0" i="0" u="none" strike="noStrike" kern="1200" cap="none" spc="0" normalizeH="0" baseline="0" noProof="0">
              <a:ln>
                <a:noFill/>
              </a:ln>
              <a:solidFill>
                <a:srgbClr val="44546A"/>
              </a:solidFill>
              <a:effectLst/>
              <a:uLnTx/>
              <a:uFillTx/>
              <a:latin typeface="Calibri" panose="020F0502020204030204"/>
              <a:ea typeface="+mn-ea"/>
              <a:cs typeface="+mn-cs"/>
            </a:endParaRPr>
          </a:p>
        </p:txBody>
      </p:sp>
      <p:pic>
        <p:nvPicPr>
          <p:cNvPr id="7" name="Grafik 6">
            <a:extLst>
              <a:ext uri="{FF2B5EF4-FFF2-40B4-BE49-F238E27FC236}">
                <a16:creationId xmlns:a16="http://schemas.microsoft.com/office/drawing/2014/main" id="{B718D9EA-0B7B-5679-0C67-B8768B51B504}"/>
              </a:ext>
            </a:extLst>
          </p:cNvPr>
          <p:cNvPicPr>
            <a:picLocks noChangeAspect="1"/>
          </p:cNvPicPr>
          <p:nvPr/>
        </p:nvPicPr>
        <p:blipFill>
          <a:blip r:embed="rId3"/>
          <a:stretch>
            <a:fillRect/>
          </a:stretch>
        </p:blipFill>
        <p:spPr>
          <a:xfrm>
            <a:off x="151568" y="0"/>
            <a:ext cx="9381051" cy="5275006"/>
          </a:xfrm>
          <a:prstGeom prst="rect">
            <a:avLst/>
          </a:prstGeom>
        </p:spPr>
      </p:pic>
      <p:sp>
        <p:nvSpPr>
          <p:cNvPr id="3" name="Textfeld 2">
            <a:extLst>
              <a:ext uri="{FF2B5EF4-FFF2-40B4-BE49-F238E27FC236}">
                <a16:creationId xmlns:a16="http://schemas.microsoft.com/office/drawing/2014/main" id="{628D3264-8D74-5033-2B78-6435C544A969}"/>
              </a:ext>
            </a:extLst>
          </p:cNvPr>
          <p:cNvSpPr txBox="1"/>
          <p:nvPr/>
        </p:nvSpPr>
        <p:spPr>
          <a:xfrm>
            <a:off x="63177" y="5397135"/>
            <a:ext cx="12052623" cy="1354217"/>
          </a:xfrm>
          <a:prstGeom prst="rect">
            <a:avLst/>
          </a:prstGeom>
          <a:noFill/>
        </p:spPr>
        <p:txBody>
          <a:bodyPr wrap="square">
            <a:spAutoFit/>
          </a:bodyPr>
          <a:lstStyle/>
          <a:p>
            <a:pPr>
              <a:spcBef>
                <a:spcPts val="600"/>
              </a:spcBef>
              <a:buNone/>
            </a:pPr>
            <a:r>
              <a:rPr lang="de-DE" dirty="0">
                <a:latin typeface="Calibri" panose="020F0502020204030204" pitchFamily="34" charset="0"/>
                <a:ea typeface="Calibri" panose="020F0502020204030204" pitchFamily="34" charset="0"/>
                <a:cs typeface="Calibri" panose="020F0502020204030204" pitchFamily="34" charset="0"/>
              </a:rPr>
              <a:t>Die kausale Logik beginnt mit einem festgelegten Ziel und sucht die passenden Mittel. 	</a:t>
            </a:r>
          </a:p>
          <a:p>
            <a:pPr>
              <a:spcBef>
                <a:spcPts val="600"/>
              </a:spcBef>
              <a:buNone/>
            </a:pPr>
            <a:r>
              <a:rPr lang="de-DE" b="1" dirty="0" err="1">
                <a:latin typeface="Calibri" panose="020F0502020204030204" pitchFamily="34" charset="0"/>
                <a:ea typeface="Calibri" panose="020F0502020204030204" pitchFamily="34" charset="0"/>
                <a:cs typeface="Calibri" panose="020F0502020204030204" pitchFamily="34" charset="0"/>
              </a:rPr>
              <a:t>Effectuation</a:t>
            </a:r>
            <a:r>
              <a:rPr lang="de-DE" dirty="0">
                <a:latin typeface="Calibri" panose="020F0502020204030204" pitchFamily="34" charset="0"/>
                <a:ea typeface="Calibri" panose="020F0502020204030204" pitchFamily="34" charset="0"/>
                <a:cs typeface="Calibri" panose="020F0502020204030204" pitchFamily="34" charset="0"/>
              </a:rPr>
              <a:t> beginnt mit vorhandenen Mitteln und entwickelt daraus mögliche Ziele.</a:t>
            </a:r>
          </a:p>
          <a:p>
            <a:pPr>
              <a:spcBef>
                <a:spcPts val="600"/>
              </a:spcBef>
              <a:buNone/>
            </a:pPr>
            <a:r>
              <a:rPr lang="de-DE" dirty="0">
                <a:latin typeface="Calibri" panose="020F0502020204030204" pitchFamily="34" charset="0"/>
                <a:ea typeface="Calibri" panose="020F0502020204030204" pitchFamily="34" charset="0"/>
                <a:cs typeface="Calibri" panose="020F0502020204030204" pitchFamily="34" charset="0"/>
              </a:rPr>
              <a:t>Das </a:t>
            </a:r>
            <a:r>
              <a:rPr lang="de-DE" b="1" dirty="0">
                <a:latin typeface="Calibri" panose="020F0502020204030204" pitchFamily="34" charset="0"/>
                <a:ea typeface="Calibri" panose="020F0502020204030204" pitchFamily="34" charset="0"/>
                <a:cs typeface="Calibri" panose="020F0502020204030204" pitchFamily="34" charset="0"/>
              </a:rPr>
              <a:t>Bird-in-the-Hand-Prinzip</a:t>
            </a:r>
            <a:r>
              <a:rPr lang="de-DE" dirty="0">
                <a:latin typeface="Calibri" panose="020F0502020204030204" pitchFamily="34" charset="0"/>
                <a:ea typeface="Calibri" panose="020F0502020204030204" pitchFamily="34" charset="0"/>
                <a:cs typeface="Calibri" panose="020F0502020204030204" pitchFamily="34" charset="0"/>
              </a:rPr>
              <a:t> fragt: Was zeichnet unsere Schule aus (Werte, Profil und Kultur)? Was können wir (Wissen, Kompetenzen und Erfahrungen)? Welche Kontakte und Netzwerke haben wir? Daraus entstehen erste Handlungsmöglichkeiten.</a:t>
            </a:r>
          </a:p>
        </p:txBody>
      </p:sp>
      <p:pic>
        <p:nvPicPr>
          <p:cNvPr id="6" name="Grafik 5" descr="Ein Bild, das Text, Visitenkarte, Schrift, Logo enthält.&#10;&#10;KI-generierte Inhalte können fehlerhaft sein.">
            <a:extLst>
              <a:ext uri="{FF2B5EF4-FFF2-40B4-BE49-F238E27FC236}">
                <a16:creationId xmlns:a16="http://schemas.microsoft.com/office/drawing/2014/main" id="{448FCEFC-D604-C493-2188-D088E4E8242F}"/>
              </a:ext>
            </a:extLst>
          </p:cNvPr>
          <p:cNvPicPr>
            <a:picLocks noChangeAspect="1"/>
          </p:cNvPicPr>
          <p:nvPr/>
        </p:nvPicPr>
        <p:blipFill>
          <a:blip r:embed="rId4"/>
          <a:srcRect l="1275" t="499" r="18112" b="1554"/>
          <a:stretch>
            <a:fillRect/>
          </a:stretch>
        </p:blipFill>
        <p:spPr>
          <a:xfrm>
            <a:off x="6489901" y="20685"/>
            <a:ext cx="5702099" cy="1990995"/>
          </a:xfrm>
          <a:prstGeom prst="rect">
            <a:avLst/>
          </a:prstGeom>
          <a:ln>
            <a:noFill/>
          </a:ln>
          <a:effectLst>
            <a:softEdge rad="112500"/>
          </a:effectLst>
        </p:spPr>
      </p:pic>
    </p:spTree>
    <p:extLst>
      <p:ext uri="{BB962C8B-B14F-4D97-AF65-F5344CB8AC3E}">
        <p14:creationId xmlns:p14="http://schemas.microsoft.com/office/powerpoint/2010/main" val="1073542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F012C-2C92-EDED-77BC-3CF78708F843}"/>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432DC6A0-07AB-709F-03DE-AA7FB05507CC}"/>
              </a:ext>
            </a:extLst>
          </p:cNvPr>
          <p:cNvSpPr txBox="1"/>
          <p:nvPr/>
        </p:nvSpPr>
        <p:spPr>
          <a:xfrm>
            <a:off x="2006600" y="4815514"/>
            <a:ext cx="3465438" cy="581621"/>
          </a:xfrm>
          <a:prstGeom prst="rect">
            <a:avLst/>
          </a:prstGeom>
        </p:spPr>
        <p:txBody>
          <a:bodyPr vert="horz" lIns="68580" tIns="34290" rIns="68580" bIns="34290" rtlCol="0">
            <a:normAutofit/>
          </a:bodyPr>
          <a:lstStyle/>
          <a:p>
            <a:pPr marL="0" marR="0" lvl="0" indent="0" algn="l" defTabSz="914400" rtl="0" eaLnBrk="1" fontAlgn="auto" latinLnBrk="0" hangingPunct="1">
              <a:lnSpc>
                <a:spcPct val="90000"/>
              </a:lnSpc>
              <a:spcBef>
                <a:spcPts val="750"/>
              </a:spcBef>
              <a:spcAft>
                <a:spcPts val="450"/>
              </a:spcAft>
              <a:buClrTx/>
              <a:buSzTx/>
              <a:buFontTx/>
              <a:buNone/>
              <a:tabLst/>
              <a:defRPr/>
            </a:pPr>
            <a:endParaRPr kumimoji="0" lang="en-US" sz="1800" b="0" i="0" u="none" strike="noStrike" kern="1200" cap="none" spc="0" normalizeH="0" baseline="0" noProof="0">
              <a:ln>
                <a:noFill/>
              </a:ln>
              <a:solidFill>
                <a:srgbClr val="44546A"/>
              </a:solidFill>
              <a:effectLst/>
              <a:uLnTx/>
              <a:uFillTx/>
              <a:latin typeface="Calibri" panose="020F0502020204030204"/>
              <a:ea typeface="+mn-ea"/>
              <a:cs typeface="+mn-cs"/>
            </a:endParaRPr>
          </a:p>
        </p:txBody>
      </p:sp>
      <p:pic>
        <p:nvPicPr>
          <p:cNvPr id="5" name="Grafik 4">
            <a:extLst>
              <a:ext uri="{FF2B5EF4-FFF2-40B4-BE49-F238E27FC236}">
                <a16:creationId xmlns:a16="http://schemas.microsoft.com/office/drawing/2014/main" id="{8BC2681C-DDFD-1D0A-8276-B8F242D1F507}"/>
              </a:ext>
            </a:extLst>
          </p:cNvPr>
          <p:cNvPicPr>
            <a:picLocks noChangeAspect="1"/>
          </p:cNvPicPr>
          <p:nvPr/>
        </p:nvPicPr>
        <p:blipFill>
          <a:blip r:embed="rId3"/>
          <a:stretch>
            <a:fillRect/>
          </a:stretch>
        </p:blipFill>
        <p:spPr>
          <a:xfrm>
            <a:off x="111680" y="0"/>
            <a:ext cx="9215200" cy="5172738"/>
          </a:xfrm>
          <a:prstGeom prst="rect">
            <a:avLst/>
          </a:prstGeom>
        </p:spPr>
      </p:pic>
      <p:pic>
        <p:nvPicPr>
          <p:cNvPr id="2" name="Grafik 1" descr="Ein Bild, das Text, Visitenkarte, Design enthält.&#10;&#10;KI-generierte Inhalte können fehlerhaft sein.">
            <a:extLst>
              <a:ext uri="{FF2B5EF4-FFF2-40B4-BE49-F238E27FC236}">
                <a16:creationId xmlns:a16="http://schemas.microsoft.com/office/drawing/2014/main" id="{37C49DB7-B9E8-34A3-28E1-A2D157B8DB08}"/>
              </a:ext>
            </a:extLst>
          </p:cNvPr>
          <p:cNvPicPr>
            <a:picLocks noChangeAspect="1"/>
          </p:cNvPicPr>
          <p:nvPr/>
        </p:nvPicPr>
        <p:blipFill>
          <a:blip r:embed="rId4"/>
          <a:srcRect l="1478" t="914" r="2168" b="1472"/>
          <a:stretch>
            <a:fillRect/>
          </a:stretch>
        </p:blipFill>
        <p:spPr>
          <a:xfrm>
            <a:off x="6360122" y="-73152"/>
            <a:ext cx="5956302" cy="1737360"/>
          </a:xfrm>
          <a:prstGeom prst="rect">
            <a:avLst/>
          </a:prstGeom>
          <a:ln>
            <a:noFill/>
          </a:ln>
          <a:effectLst>
            <a:softEdge rad="112500"/>
          </a:effectLst>
        </p:spPr>
      </p:pic>
      <p:sp>
        <p:nvSpPr>
          <p:cNvPr id="6" name="Textfeld 5">
            <a:extLst>
              <a:ext uri="{FF2B5EF4-FFF2-40B4-BE49-F238E27FC236}">
                <a16:creationId xmlns:a16="http://schemas.microsoft.com/office/drawing/2014/main" id="{A441F7F0-18DE-9B76-104F-8834921DAE61}"/>
              </a:ext>
            </a:extLst>
          </p:cNvPr>
          <p:cNvSpPr txBox="1"/>
          <p:nvPr/>
        </p:nvSpPr>
        <p:spPr>
          <a:xfrm>
            <a:off x="111680" y="5212468"/>
            <a:ext cx="11994976" cy="1631216"/>
          </a:xfrm>
          <a:prstGeom prst="rect">
            <a:avLst/>
          </a:prstGeom>
          <a:noFill/>
        </p:spPr>
        <p:txBody>
          <a:bodyPr wrap="square">
            <a:spAutoFit/>
          </a:bodyPr>
          <a:lstStyle/>
          <a:p>
            <a:pPr>
              <a:spcAft>
                <a:spcPts val="600"/>
              </a:spcAft>
              <a:buNone/>
            </a:pPr>
            <a:r>
              <a:rPr lang="de-DE" dirty="0">
                <a:latin typeface="Calibri" panose="020F0502020204030204" pitchFamily="34" charset="0"/>
                <a:ea typeface="Calibri" panose="020F0502020204030204" pitchFamily="34" charset="0"/>
                <a:cs typeface="Calibri" panose="020F0502020204030204" pitchFamily="34" charset="0"/>
              </a:rPr>
              <a:t>Die kausale Logik bemisst den Einsatz am erwarteten Nutzen. </a:t>
            </a:r>
          </a:p>
          <a:p>
            <a:pPr>
              <a:spcAft>
                <a:spcPts val="600"/>
              </a:spcAft>
              <a:buNone/>
            </a:pPr>
            <a:r>
              <a:rPr lang="de-DE" b="1" dirty="0" err="1">
                <a:latin typeface="Calibri" panose="020F0502020204030204" pitchFamily="34" charset="0"/>
                <a:ea typeface="Calibri" panose="020F0502020204030204" pitchFamily="34" charset="0"/>
                <a:cs typeface="Calibri" panose="020F0502020204030204" pitchFamily="34" charset="0"/>
              </a:rPr>
              <a:t>Effectuation</a:t>
            </a:r>
            <a:r>
              <a:rPr lang="de-DE" dirty="0">
                <a:latin typeface="Calibri" panose="020F0502020204030204" pitchFamily="34" charset="0"/>
                <a:ea typeface="Calibri" panose="020F0502020204030204" pitchFamily="34" charset="0"/>
                <a:cs typeface="Calibri" panose="020F0502020204030204" pitchFamily="34" charset="0"/>
              </a:rPr>
              <a:t> orientiert sich daran, welcher Verlust tragbar ist.</a:t>
            </a:r>
          </a:p>
          <a:p>
            <a:pPr>
              <a:spcAft>
                <a:spcPts val="600"/>
              </a:spcAft>
              <a:buNone/>
            </a:pPr>
            <a:r>
              <a:rPr lang="de-DE" dirty="0">
                <a:latin typeface="Calibri" panose="020F0502020204030204" pitchFamily="34" charset="0"/>
                <a:ea typeface="Calibri" panose="020F0502020204030204" pitchFamily="34" charset="0"/>
                <a:cs typeface="Calibri" panose="020F0502020204030204" pitchFamily="34" charset="0"/>
              </a:rPr>
              <a:t>Das </a:t>
            </a:r>
            <a:r>
              <a:rPr lang="de-DE" b="1" dirty="0" err="1">
                <a:latin typeface="Calibri" panose="020F0502020204030204" pitchFamily="34" charset="0"/>
                <a:ea typeface="Calibri" panose="020F0502020204030204" pitchFamily="34" charset="0"/>
                <a:cs typeface="Calibri" panose="020F0502020204030204" pitchFamily="34" charset="0"/>
              </a:rPr>
              <a:t>Affordable</a:t>
            </a:r>
            <a:r>
              <a:rPr lang="de-DE" b="1" dirty="0">
                <a:latin typeface="Calibri" panose="020F0502020204030204" pitchFamily="34" charset="0"/>
                <a:ea typeface="Calibri" panose="020F0502020204030204" pitchFamily="34" charset="0"/>
                <a:cs typeface="Calibri" panose="020F0502020204030204" pitchFamily="34" charset="0"/>
              </a:rPr>
              <a:t>-Loss-Prinzip</a:t>
            </a:r>
            <a:r>
              <a:rPr lang="de-DE" dirty="0">
                <a:latin typeface="Calibri" panose="020F0502020204030204" pitchFamily="34" charset="0"/>
                <a:ea typeface="Calibri" panose="020F0502020204030204" pitchFamily="34" charset="0"/>
                <a:cs typeface="Calibri" panose="020F0502020204030204" pitchFamily="34" charset="0"/>
              </a:rPr>
              <a:t> fragt: Wie viel Zeit und Arbeitsaufwand kann unsere Schule einsetzen, auch wenn das Vorhaben nicht gelingt? Kleine, begrenzte Erprobungen ermöglichen es, Erfahrungen zu sammeln und den weiteren Einsatz schrittweise zu entscheiden.</a:t>
            </a:r>
          </a:p>
        </p:txBody>
      </p:sp>
    </p:spTree>
    <p:extLst>
      <p:ext uri="{BB962C8B-B14F-4D97-AF65-F5344CB8AC3E}">
        <p14:creationId xmlns:p14="http://schemas.microsoft.com/office/powerpoint/2010/main" val="3876487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348F6-02A9-C4A7-01AC-84143A6E7B94}"/>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489E5E21-C740-892D-B8EA-BCD69BB9A56E}"/>
              </a:ext>
            </a:extLst>
          </p:cNvPr>
          <p:cNvSpPr txBox="1"/>
          <p:nvPr/>
        </p:nvSpPr>
        <p:spPr>
          <a:xfrm>
            <a:off x="2006600" y="4815514"/>
            <a:ext cx="3465438" cy="581621"/>
          </a:xfrm>
          <a:prstGeom prst="rect">
            <a:avLst/>
          </a:prstGeom>
        </p:spPr>
        <p:txBody>
          <a:bodyPr vert="horz" lIns="68580" tIns="34290" rIns="68580" bIns="34290" rtlCol="0">
            <a:normAutofit/>
          </a:bodyPr>
          <a:lstStyle/>
          <a:p>
            <a:pPr marL="0" marR="0" lvl="0" indent="0" algn="l" defTabSz="914400" rtl="0" eaLnBrk="1" fontAlgn="auto" latinLnBrk="0" hangingPunct="1">
              <a:lnSpc>
                <a:spcPct val="90000"/>
              </a:lnSpc>
              <a:spcBef>
                <a:spcPts val="750"/>
              </a:spcBef>
              <a:spcAft>
                <a:spcPts val="450"/>
              </a:spcAft>
              <a:buClrTx/>
              <a:buSzTx/>
              <a:buFontTx/>
              <a:buNone/>
              <a:tabLst/>
              <a:defRPr/>
            </a:pPr>
            <a:endParaRPr kumimoji="0" lang="en-US" sz="1800" b="0" i="0" u="none" strike="noStrike" kern="1200" cap="none" spc="0" normalizeH="0" baseline="0" noProof="0">
              <a:ln>
                <a:noFill/>
              </a:ln>
              <a:solidFill>
                <a:srgbClr val="44546A"/>
              </a:solidFill>
              <a:effectLst/>
              <a:uLnTx/>
              <a:uFillTx/>
              <a:latin typeface="Calibri" panose="020F0502020204030204"/>
              <a:ea typeface="+mn-ea"/>
              <a:cs typeface="+mn-cs"/>
            </a:endParaRPr>
          </a:p>
        </p:txBody>
      </p:sp>
      <p:pic>
        <p:nvPicPr>
          <p:cNvPr id="3" name="Grafik 2">
            <a:extLst>
              <a:ext uri="{FF2B5EF4-FFF2-40B4-BE49-F238E27FC236}">
                <a16:creationId xmlns:a16="http://schemas.microsoft.com/office/drawing/2014/main" id="{220A8237-7C27-5039-5F91-372ACA85FF07}"/>
              </a:ext>
            </a:extLst>
          </p:cNvPr>
          <p:cNvPicPr>
            <a:picLocks noChangeAspect="1"/>
          </p:cNvPicPr>
          <p:nvPr/>
        </p:nvPicPr>
        <p:blipFill>
          <a:blip r:embed="rId3"/>
          <a:stretch>
            <a:fillRect/>
          </a:stretch>
        </p:blipFill>
        <p:spPr>
          <a:xfrm>
            <a:off x="62622" y="0"/>
            <a:ext cx="9508098" cy="5346446"/>
          </a:xfrm>
          <a:prstGeom prst="rect">
            <a:avLst/>
          </a:prstGeom>
        </p:spPr>
      </p:pic>
      <p:pic>
        <p:nvPicPr>
          <p:cNvPr id="2" name="Grafik 1" descr="Ein Bild, das Text, Screenshot, Logo, Visitenkarte enthält.&#10;&#10;KI-generierte Inhalte können fehlerhaft sein.">
            <a:extLst>
              <a:ext uri="{FF2B5EF4-FFF2-40B4-BE49-F238E27FC236}">
                <a16:creationId xmlns:a16="http://schemas.microsoft.com/office/drawing/2014/main" id="{91466C50-D1F1-4291-608F-9AB0E3DCFB1E}"/>
              </a:ext>
            </a:extLst>
          </p:cNvPr>
          <p:cNvPicPr>
            <a:picLocks noChangeAspect="1"/>
          </p:cNvPicPr>
          <p:nvPr/>
        </p:nvPicPr>
        <p:blipFill>
          <a:blip r:embed="rId4"/>
          <a:srcRect t="845" r="11352" b="1327"/>
          <a:stretch>
            <a:fillRect/>
          </a:stretch>
        </p:blipFill>
        <p:spPr>
          <a:xfrm>
            <a:off x="7211529" y="-50689"/>
            <a:ext cx="5111294" cy="1675895"/>
          </a:xfrm>
          <a:prstGeom prst="rect">
            <a:avLst/>
          </a:prstGeom>
          <a:ln>
            <a:noFill/>
          </a:ln>
          <a:effectLst>
            <a:softEdge rad="112500"/>
          </a:effectLst>
        </p:spPr>
      </p:pic>
      <p:sp>
        <p:nvSpPr>
          <p:cNvPr id="6" name="Textfeld 5">
            <a:extLst>
              <a:ext uri="{FF2B5EF4-FFF2-40B4-BE49-F238E27FC236}">
                <a16:creationId xmlns:a16="http://schemas.microsoft.com/office/drawing/2014/main" id="{7F35C84E-D457-D00E-909A-4D3981E3CB21}"/>
              </a:ext>
            </a:extLst>
          </p:cNvPr>
          <p:cNvSpPr txBox="1"/>
          <p:nvPr/>
        </p:nvSpPr>
        <p:spPr>
          <a:xfrm>
            <a:off x="157480" y="5502223"/>
            <a:ext cx="12034520" cy="1354217"/>
          </a:xfrm>
          <a:prstGeom prst="rect">
            <a:avLst/>
          </a:prstGeom>
          <a:noFill/>
        </p:spPr>
        <p:txBody>
          <a:bodyPr wrap="square">
            <a:spAutoFit/>
          </a:bodyPr>
          <a:lstStyle/>
          <a:p>
            <a:pPr>
              <a:spcAft>
                <a:spcPts val="600"/>
              </a:spcAft>
              <a:buNone/>
            </a:pPr>
            <a:r>
              <a:rPr lang="de-DE" dirty="0">
                <a:latin typeface="Calibri" panose="020F0502020204030204" pitchFamily="34" charset="0"/>
                <a:ea typeface="Calibri" panose="020F0502020204030204" pitchFamily="34" charset="0"/>
                <a:cs typeface="Calibri" panose="020F0502020204030204" pitchFamily="34" charset="0"/>
              </a:rPr>
              <a:t>Die kausale Logik versucht, den Weg zum festgelegten Ziel gegen Störungen abzusichern. </a:t>
            </a:r>
          </a:p>
          <a:p>
            <a:pPr>
              <a:spcAft>
                <a:spcPts val="600"/>
              </a:spcAft>
              <a:buNone/>
            </a:pPr>
            <a:r>
              <a:rPr lang="de-DE" b="1" dirty="0" err="1">
                <a:latin typeface="Calibri" panose="020F0502020204030204" pitchFamily="34" charset="0"/>
                <a:ea typeface="Calibri" panose="020F0502020204030204" pitchFamily="34" charset="0"/>
                <a:cs typeface="Calibri" panose="020F0502020204030204" pitchFamily="34" charset="0"/>
              </a:rPr>
              <a:t>Effectuation</a:t>
            </a:r>
            <a:r>
              <a:rPr lang="de-DE" dirty="0">
                <a:latin typeface="Calibri" panose="020F0502020204030204" pitchFamily="34" charset="0"/>
                <a:ea typeface="Calibri" panose="020F0502020204030204" pitchFamily="34" charset="0"/>
                <a:cs typeface="Calibri" panose="020F0502020204030204" pitchFamily="34" charset="0"/>
              </a:rPr>
              <a:t> nutzt unerwartete Entwicklungen, um neue Möglichkeiten zu erschließen.</a:t>
            </a:r>
          </a:p>
          <a:p>
            <a:pPr>
              <a:spcAft>
                <a:spcPts val="600"/>
              </a:spcAft>
              <a:buNone/>
            </a:pPr>
            <a:r>
              <a:rPr lang="de-DE" dirty="0">
                <a:latin typeface="Calibri" panose="020F0502020204030204" pitchFamily="34" charset="0"/>
                <a:ea typeface="Calibri" panose="020F0502020204030204" pitchFamily="34" charset="0"/>
                <a:cs typeface="Calibri" panose="020F0502020204030204" pitchFamily="34" charset="0"/>
              </a:rPr>
              <a:t>Das </a:t>
            </a:r>
            <a:r>
              <a:rPr lang="de-DE" b="1" dirty="0">
                <a:latin typeface="Calibri" panose="020F0502020204030204" pitchFamily="34" charset="0"/>
                <a:ea typeface="Calibri" panose="020F0502020204030204" pitchFamily="34" charset="0"/>
                <a:cs typeface="Calibri" panose="020F0502020204030204" pitchFamily="34" charset="0"/>
              </a:rPr>
              <a:t>Lemonade-Prinzip</a:t>
            </a:r>
            <a:r>
              <a:rPr lang="de-DE" dirty="0">
                <a:latin typeface="Calibri" panose="020F0502020204030204" pitchFamily="34" charset="0"/>
                <a:ea typeface="Calibri" panose="020F0502020204030204" pitchFamily="34" charset="0"/>
                <a:cs typeface="Calibri" panose="020F0502020204030204" pitchFamily="34" charset="0"/>
              </a:rPr>
              <a:t> fragt: Welche Chancen ergeben sich für unsere Schule aus Überraschungen, Veränderungen oder Fehlern? Daraus können neue Lösungswege und Ziele entstehen.</a:t>
            </a:r>
          </a:p>
        </p:txBody>
      </p:sp>
    </p:spTree>
    <p:extLst>
      <p:ext uri="{BB962C8B-B14F-4D97-AF65-F5344CB8AC3E}">
        <p14:creationId xmlns:p14="http://schemas.microsoft.com/office/powerpoint/2010/main" val="324134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8CDC6-F960-05B0-D696-36CF64437E2E}"/>
            </a:ext>
          </a:extLst>
        </p:cNvPr>
        <p:cNvGrpSpPr/>
        <p:nvPr/>
      </p:nvGrpSpPr>
      <p:grpSpPr>
        <a:xfrm>
          <a:off x="0" y="0"/>
          <a:ext cx="0" cy="0"/>
          <a:chOff x="0" y="0"/>
          <a:chExt cx="0" cy="0"/>
        </a:xfrm>
      </p:grpSpPr>
      <p:sp>
        <p:nvSpPr>
          <p:cNvPr id="4" name="Textfeld 3">
            <a:extLst>
              <a:ext uri="{FF2B5EF4-FFF2-40B4-BE49-F238E27FC236}">
                <a16:creationId xmlns:a16="http://schemas.microsoft.com/office/drawing/2014/main" id="{B1D1C0EB-03E0-57E4-1762-A443A2DAC04B}"/>
              </a:ext>
            </a:extLst>
          </p:cNvPr>
          <p:cNvSpPr txBox="1"/>
          <p:nvPr/>
        </p:nvSpPr>
        <p:spPr>
          <a:xfrm>
            <a:off x="2006600" y="4815514"/>
            <a:ext cx="3465438" cy="581621"/>
          </a:xfrm>
          <a:prstGeom prst="rect">
            <a:avLst/>
          </a:prstGeom>
        </p:spPr>
        <p:txBody>
          <a:bodyPr vert="horz" lIns="68580" tIns="34290" rIns="68580" bIns="34290" rtlCol="0">
            <a:normAutofit/>
          </a:bodyPr>
          <a:lstStyle/>
          <a:p>
            <a:pPr marL="0" marR="0" lvl="0" indent="0" algn="l" defTabSz="914400" rtl="0" eaLnBrk="1" fontAlgn="auto" latinLnBrk="0" hangingPunct="1">
              <a:lnSpc>
                <a:spcPct val="90000"/>
              </a:lnSpc>
              <a:spcBef>
                <a:spcPts val="750"/>
              </a:spcBef>
              <a:spcAft>
                <a:spcPts val="450"/>
              </a:spcAft>
              <a:buClrTx/>
              <a:buSzTx/>
              <a:buFontTx/>
              <a:buNone/>
              <a:tabLst/>
              <a:defRPr/>
            </a:pPr>
            <a:endParaRPr kumimoji="0" lang="en-US" sz="1800" b="0" i="0" u="none" strike="noStrike" kern="1200" cap="none" spc="0" normalizeH="0" baseline="0" noProof="0">
              <a:ln>
                <a:noFill/>
              </a:ln>
              <a:solidFill>
                <a:srgbClr val="44546A"/>
              </a:solidFill>
              <a:effectLst/>
              <a:uLnTx/>
              <a:uFillTx/>
              <a:latin typeface="Calibri" panose="020F0502020204030204"/>
              <a:ea typeface="+mn-ea"/>
              <a:cs typeface="+mn-cs"/>
            </a:endParaRPr>
          </a:p>
        </p:txBody>
      </p:sp>
      <p:pic>
        <p:nvPicPr>
          <p:cNvPr id="5" name="Grafik 4">
            <a:extLst>
              <a:ext uri="{FF2B5EF4-FFF2-40B4-BE49-F238E27FC236}">
                <a16:creationId xmlns:a16="http://schemas.microsoft.com/office/drawing/2014/main" id="{E6543FCF-61D5-A0AD-CD57-DD72F212160C}"/>
              </a:ext>
            </a:extLst>
          </p:cNvPr>
          <p:cNvPicPr>
            <a:picLocks noChangeAspect="1"/>
          </p:cNvPicPr>
          <p:nvPr/>
        </p:nvPicPr>
        <p:blipFill>
          <a:blip r:embed="rId3"/>
          <a:stretch>
            <a:fillRect/>
          </a:stretch>
        </p:blipFill>
        <p:spPr>
          <a:xfrm>
            <a:off x="109728" y="1667"/>
            <a:ext cx="9079992" cy="5105011"/>
          </a:xfrm>
          <a:prstGeom prst="rect">
            <a:avLst/>
          </a:prstGeom>
        </p:spPr>
      </p:pic>
      <p:pic>
        <p:nvPicPr>
          <p:cNvPr id="2" name="Grafik 1" descr="Ein Bild, das Text, Screenshot, Logo, Schrift enthält.&#10;&#10;KI-generierte Inhalte können fehlerhaft sein.">
            <a:extLst>
              <a:ext uri="{FF2B5EF4-FFF2-40B4-BE49-F238E27FC236}">
                <a16:creationId xmlns:a16="http://schemas.microsoft.com/office/drawing/2014/main" id="{0AAC653B-52CC-C5D4-F2ED-C09414C5A583}"/>
              </a:ext>
            </a:extLst>
          </p:cNvPr>
          <p:cNvPicPr>
            <a:picLocks noChangeAspect="1"/>
          </p:cNvPicPr>
          <p:nvPr/>
        </p:nvPicPr>
        <p:blipFill>
          <a:blip r:embed="rId4"/>
          <a:srcRect t="1310" r="16392" b="1500"/>
          <a:stretch>
            <a:fillRect/>
          </a:stretch>
        </p:blipFill>
        <p:spPr>
          <a:xfrm>
            <a:off x="7764424" y="-114881"/>
            <a:ext cx="4591916" cy="1541345"/>
          </a:xfrm>
          <a:prstGeom prst="rect">
            <a:avLst/>
          </a:prstGeom>
          <a:ln>
            <a:noFill/>
          </a:ln>
          <a:effectLst>
            <a:softEdge rad="112500"/>
          </a:effectLst>
        </p:spPr>
      </p:pic>
      <p:sp>
        <p:nvSpPr>
          <p:cNvPr id="6" name="Textfeld 5">
            <a:extLst>
              <a:ext uri="{FF2B5EF4-FFF2-40B4-BE49-F238E27FC236}">
                <a16:creationId xmlns:a16="http://schemas.microsoft.com/office/drawing/2014/main" id="{582A1642-F0EB-B1D2-8110-DF7C99AAE407}"/>
              </a:ext>
            </a:extLst>
          </p:cNvPr>
          <p:cNvSpPr txBox="1"/>
          <p:nvPr/>
        </p:nvSpPr>
        <p:spPr>
          <a:xfrm>
            <a:off x="0" y="5397135"/>
            <a:ext cx="12019280" cy="1354217"/>
          </a:xfrm>
          <a:prstGeom prst="rect">
            <a:avLst/>
          </a:prstGeom>
          <a:noFill/>
        </p:spPr>
        <p:txBody>
          <a:bodyPr wrap="square">
            <a:spAutoFit/>
          </a:bodyPr>
          <a:lstStyle/>
          <a:p>
            <a:pPr>
              <a:spcAft>
                <a:spcPts val="600"/>
              </a:spcAft>
              <a:buNone/>
            </a:pPr>
            <a:r>
              <a:rPr lang="de-DE" dirty="0">
                <a:latin typeface="Calibri" panose="020F0502020204030204" pitchFamily="34" charset="0"/>
                <a:ea typeface="Calibri" panose="020F0502020204030204" pitchFamily="34" charset="0"/>
                <a:cs typeface="Calibri" panose="020F0502020204030204" pitchFamily="34" charset="0"/>
              </a:rPr>
              <a:t>Die kausale Logik sucht passende Partner für ein festgelegtes Vorhaben. </a:t>
            </a:r>
          </a:p>
          <a:p>
            <a:pPr>
              <a:spcAft>
                <a:spcPts val="600"/>
              </a:spcAft>
              <a:buNone/>
            </a:pPr>
            <a:r>
              <a:rPr lang="de-DE" b="1" dirty="0" err="1">
                <a:latin typeface="Calibri" panose="020F0502020204030204" pitchFamily="34" charset="0"/>
                <a:ea typeface="Calibri" panose="020F0502020204030204" pitchFamily="34" charset="0"/>
                <a:cs typeface="Calibri" panose="020F0502020204030204" pitchFamily="34" charset="0"/>
              </a:rPr>
              <a:t>Effectuation</a:t>
            </a:r>
            <a:r>
              <a:rPr lang="de-DE" dirty="0">
                <a:latin typeface="Calibri" panose="020F0502020204030204" pitchFamily="34" charset="0"/>
                <a:ea typeface="Calibri" panose="020F0502020204030204" pitchFamily="34" charset="0"/>
                <a:cs typeface="Calibri" panose="020F0502020204030204" pitchFamily="34" charset="0"/>
              </a:rPr>
              <a:t> entwickelt das Vorhaben gemeinsam mit denen, die bereit sind, sich verbindlich einzubringen.</a:t>
            </a:r>
          </a:p>
          <a:p>
            <a:pPr>
              <a:spcAft>
                <a:spcPts val="600"/>
              </a:spcAft>
              <a:buNone/>
            </a:pPr>
            <a:r>
              <a:rPr lang="de-DE" dirty="0">
                <a:latin typeface="Calibri" panose="020F0502020204030204" pitchFamily="34" charset="0"/>
                <a:ea typeface="Calibri" panose="020F0502020204030204" pitchFamily="34" charset="0"/>
                <a:cs typeface="Calibri" panose="020F0502020204030204" pitchFamily="34" charset="0"/>
              </a:rPr>
              <a:t>Das </a:t>
            </a:r>
            <a:r>
              <a:rPr lang="de-DE" b="1" dirty="0">
                <a:latin typeface="Calibri" panose="020F0502020204030204" pitchFamily="34" charset="0"/>
                <a:ea typeface="Calibri" panose="020F0502020204030204" pitchFamily="34" charset="0"/>
                <a:cs typeface="Calibri" panose="020F0502020204030204" pitchFamily="34" charset="0"/>
              </a:rPr>
              <a:t>Crazy-Quilt-Prinzip</a:t>
            </a:r>
            <a:r>
              <a:rPr lang="de-DE" dirty="0">
                <a:latin typeface="Calibri" panose="020F0502020204030204" pitchFamily="34" charset="0"/>
                <a:ea typeface="Calibri" panose="020F0502020204030204" pitchFamily="34" charset="0"/>
                <a:cs typeface="Calibri" panose="020F0502020204030204" pitchFamily="34" charset="0"/>
              </a:rPr>
              <a:t> fragt: Wer innerhalb und außerhalb unserer Schule möchte mitgestalten und welchen Beitrag leisten? Durch konkrete Vereinbarungen werden Kompetenzen und Ressourcen verbunden und gemeinsame Ziele entwickelt.</a:t>
            </a:r>
          </a:p>
        </p:txBody>
      </p:sp>
    </p:spTree>
    <p:extLst>
      <p:ext uri="{BB962C8B-B14F-4D97-AF65-F5344CB8AC3E}">
        <p14:creationId xmlns:p14="http://schemas.microsoft.com/office/powerpoint/2010/main" val="3158502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8402B-2FAC-F983-8C23-D8E341F26AB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A406484-2BAD-5275-C705-42C45FCC96DC}"/>
              </a:ext>
            </a:extLst>
          </p:cNvPr>
          <p:cNvSpPr>
            <a:spLocks noGrp="1"/>
          </p:cNvSpPr>
          <p:nvPr>
            <p:ph type="title" idx="4294967295"/>
          </p:nvPr>
        </p:nvSpPr>
        <p:spPr>
          <a:xfrm>
            <a:off x="319033" y="1137063"/>
            <a:ext cx="11872967" cy="801687"/>
          </a:xfrm>
          <a:prstGeom prst="rect">
            <a:avLst/>
          </a:prstGeom>
        </p:spPr>
        <p:txBody>
          <a:bodyPr vert="horz" lIns="91440" tIns="45720" rIns="91440" bIns="45720" rtlCol="0" anchor="ctr">
            <a:noAutofit/>
          </a:bodyPr>
          <a:lstStyle/>
          <a:p>
            <a:r>
              <a:rPr lang="de-DE" sz="3600" b="1" dirty="0">
                <a:latin typeface="Calibri Light" panose="020F0302020204030204" pitchFamily="34" charset="0"/>
                <a:ea typeface="Calibri Light" panose="020F0302020204030204" pitchFamily="34" charset="0"/>
                <a:cs typeface="Calibri Light" panose="020F0302020204030204" pitchFamily="34" charset="0"/>
              </a:rPr>
              <a:t>Ein möglicher Ansatz: Arbeiten mit ‚Schnellbooten‘ (Pilotierung)</a:t>
            </a:r>
            <a:endParaRPr lang="en-US" sz="3600" kern="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feld 4">
            <a:extLst>
              <a:ext uri="{FF2B5EF4-FFF2-40B4-BE49-F238E27FC236}">
                <a16:creationId xmlns:a16="http://schemas.microsoft.com/office/drawing/2014/main" id="{8A103535-A654-76E7-C481-657548260798}"/>
              </a:ext>
            </a:extLst>
          </p:cNvPr>
          <p:cNvSpPr txBox="1"/>
          <p:nvPr/>
        </p:nvSpPr>
        <p:spPr>
          <a:xfrm>
            <a:off x="535441" y="1988222"/>
            <a:ext cx="11116521" cy="2805063"/>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24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Was bedeutet das konkret?</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kleine Teams (z. B. Fachgruppen, Gruppe von Bereitwilligen,</a:t>
            </a:r>
            <a:r>
              <a:rPr kumimoji="0" lang="de-DE" sz="2400" b="0" i="0" u="none" strike="noStrike" kern="1200" cap="none" spc="0" normalizeH="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r>
              <a:rPr kumimoji="0" lang="de-DE"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klarer Fokus (z. B. </a:t>
            </a:r>
            <a:r>
              <a:rPr kumimoji="0" lang="de-DE" sz="24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Deeper</a:t>
            </a:r>
            <a:r>
              <a:rPr kumimoji="0" lang="de-DE"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Learning, </a:t>
            </a:r>
            <a:r>
              <a:rPr kumimoji="0" lang="de-DE" sz="2400" b="0" i="0" u="none" strike="noStrike" kern="1200" cap="none" spc="0" normalizeH="0" baseline="0" noProof="0" dirty="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Scrum</a:t>
            </a:r>
            <a:r>
              <a:rPr lang="de-DE" sz="2400" dirty="0">
                <a:solidFill>
                  <a:prstClr val="black"/>
                </a:solidFill>
                <a:latin typeface="Calibri" panose="020F0502020204030204" pitchFamily="34" charset="0"/>
                <a:ea typeface="Calibri" panose="020F0502020204030204" pitchFamily="34" charset="0"/>
                <a:cs typeface="Calibri" panose="020F0502020204030204" pitchFamily="34" charset="0"/>
              </a:rPr>
              <a:t>, </a:t>
            </a:r>
            <a:r>
              <a:rPr kumimoji="0" lang="de-DE"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neues Prüfungsformat, …)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begrenzter Zeitraum </a:t>
            </a:r>
          </a:p>
          <a:p>
            <a:pPr marL="457200" marR="0" lvl="0" indent="-4572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systematische Auswertung </a:t>
            </a:r>
          </a:p>
        </p:txBody>
      </p:sp>
      <p:sp>
        <p:nvSpPr>
          <p:cNvPr id="4" name="Textfeld 3">
            <a:extLst>
              <a:ext uri="{FF2B5EF4-FFF2-40B4-BE49-F238E27FC236}">
                <a16:creationId xmlns:a16="http://schemas.microsoft.com/office/drawing/2014/main" id="{39817BDF-3EEF-94E1-6E52-80F3D12C37CD}"/>
              </a:ext>
            </a:extLst>
          </p:cNvPr>
          <p:cNvSpPr txBox="1"/>
          <p:nvPr/>
        </p:nvSpPr>
        <p:spPr>
          <a:xfrm rot="20569974">
            <a:off x="6647156" y="4279752"/>
            <a:ext cx="5326322" cy="670055"/>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2800" b="0" i="1" u="none" strike="noStrike" kern="1200" cap="none" spc="0" normalizeH="0" baseline="0" noProof="0" dirty="0">
                <a:ln>
                  <a:noFill/>
                </a:ln>
                <a:solidFill>
                  <a:prstClr val="black"/>
                </a:solidFill>
                <a:effectLst/>
                <a:uLnTx/>
                <a:uFillTx/>
                <a:latin typeface="Calibri" panose="020F0502020204030204"/>
                <a:ea typeface="Linux Biolinum" panose="02000503000000000000" pitchFamily="2" charset="0"/>
                <a:cs typeface="Linux Biolinum" panose="02000503000000000000" pitchFamily="2" charset="0"/>
              </a:rPr>
              <a:t>Next Practice </a:t>
            </a:r>
            <a:r>
              <a:rPr kumimoji="0" lang="de-DE" sz="2800" b="0" i="1" u="none" strike="noStrike" kern="1200" cap="none" spc="0" normalizeH="0" baseline="0" noProof="0" dirty="0" err="1">
                <a:ln>
                  <a:noFill/>
                </a:ln>
                <a:solidFill>
                  <a:prstClr val="black"/>
                </a:solidFill>
                <a:effectLst/>
                <a:uLnTx/>
                <a:uFillTx/>
                <a:latin typeface="Calibri" panose="020F0502020204030204"/>
                <a:ea typeface="Linux Biolinum" panose="02000503000000000000" pitchFamily="2" charset="0"/>
                <a:cs typeface="Linux Biolinum" panose="02000503000000000000" pitchFamily="2" charset="0"/>
              </a:rPr>
              <a:t>vs</a:t>
            </a:r>
            <a:r>
              <a:rPr kumimoji="0" lang="de-DE" sz="2800" b="0" i="1" u="none" strike="noStrike" kern="1200" cap="none" spc="0" normalizeH="0" baseline="0" noProof="0" dirty="0">
                <a:ln>
                  <a:noFill/>
                </a:ln>
                <a:solidFill>
                  <a:prstClr val="black"/>
                </a:solidFill>
                <a:effectLst/>
                <a:uLnTx/>
                <a:uFillTx/>
                <a:latin typeface="Calibri" panose="020F0502020204030204"/>
                <a:ea typeface="Linux Biolinum" panose="02000503000000000000" pitchFamily="2" charset="0"/>
                <a:cs typeface="Linux Biolinum" panose="02000503000000000000" pitchFamily="2" charset="0"/>
              </a:rPr>
              <a:t> Best Practice</a:t>
            </a:r>
          </a:p>
        </p:txBody>
      </p:sp>
      <p:sp>
        <p:nvSpPr>
          <p:cNvPr id="6" name="Textfeld 5">
            <a:extLst>
              <a:ext uri="{FF2B5EF4-FFF2-40B4-BE49-F238E27FC236}">
                <a16:creationId xmlns:a16="http://schemas.microsoft.com/office/drawing/2014/main" id="{437C9D2A-D8C5-454F-D924-C9EA9F9A9ACE}"/>
              </a:ext>
            </a:extLst>
          </p:cNvPr>
          <p:cNvSpPr txBox="1"/>
          <p:nvPr/>
        </p:nvSpPr>
        <p:spPr>
          <a:xfrm>
            <a:off x="535441" y="5726014"/>
            <a:ext cx="9140994" cy="630429"/>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de-DE" sz="2600" b="1" i="0" u="none" strike="noStrike" kern="1200" cap="none" spc="0" normalizeH="0" baseline="0" noProof="0" dirty="0">
                <a:ln>
                  <a:noFill/>
                </a:ln>
                <a:solidFill>
                  <a:prstClr val="black"/>
                </a:solidFill>
                <a:effectLst/>
                <a:uLnTx/>
                <a:uFillTx/>
                <a:latin typeface="Calibri" panose="020F0502020204030204"/>
                <a:ea typeface="Linux Biolinum" panose="02000503000000000000" pitchFamily="2" charset="0"/>
                <a:cs typeface="Linux Biolinum" panose="02000503000000000000" pitchFamily="2" charset="0"/>
              </a:rPr>
              <a:t>Ziel: </a:t>
            </a:r>
            <a:r>
              <a:rPr kumimoji="0" lang="de-DE" sz="2600" b="0" i="0" u="none" strike="noStrike" kern="1200" cap="none" spc="0" normalizeH="0" baseline="0" noProof="0" dirty="0">
                <a:ln>
                  <a:noFill/>
                </a:ln>
                <a:solidFill>
                  <a:prstClr val="black"/>
                </a:solidFill>
                <a:effectLst/>
                <a:uLnTx/>
                <a:uFillTx/>
                <a:latin typeface="Calibri" panose="020F0502020204030204"/>
                <a:ea typeface="Linux Biolinum" panose="02000503000000000000" pitchFamily="2" charset="0"/>
                <a:cs typeface="Linux Biolinum" panose="02000503000000000000" pitchFamily="2" charset="0"/>
              </a:rPr>
              <a:t>Erfahrungen sammeln, bevor es in die Breite geht.</a:t>
            </a:r>
          </a:p>
        </p:txBody>
      </p:sp>
    </p:spTree>
    <p:extLst>
      <p:ext uri="{BB962C8B-B14F-4D97-AF65-F5344CB8AC3E}">
        <p14:creationId xmlns:p14="http://schemas.microsoft.com/office/powerpoint/2010/main" val="3718955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9D404-F651-274B-FAF7-22DDB661C33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90E10EC-E7F4-08CE-8BCB-155D0B77C5E4}"/>
              </a:ext>
            </a:extLst>
          </p:cNvPr>
          <p:cNvSpPr>
            <a:spLocks noGrp="1"/>
          </p:cNvSpPr>
          <p:nvPr>
            <p:ph type="title" idx="4294967295"/>
          </p:nvPr>
        </p:nvSpPr>
        <p:spPr>
          <a:xfrm>
            <a:off x="319033" y="1137063"/>
            <a:ext cx="11872967" cy="801687"/>
          </a:xfrm>
          <a:prstGeom prst="rect">
            <a:avLst/>
          </a:prstGeom>
        </p:spPr>
        <p:txBody>
          <a:bodyPr vert="horz" lIns="91440" tIns="45720" rIns="91440" bIns="45720" rtlCol="0" anchor="ctr">
            <a:noAutofit/>
          </a:bodyPr>
          <a:lstStyle/>
          <a:p>
            <a:r>
              <a:rPr lang="de-DE" sz="3600" b="1" dirty="0">
                <a:latin typeface="Calibri Light" panose="020F0302020204030204" pitchFamily="34" charset="0"/>
                <a:ea typeface="Calibri Light" panose="020F0302020204030204" pitchFamily="34" charset="0"/>
                <a:cs typeface="Calibri Light" panose="020F0302020204030204" pitchFamily="34" charset="0"/>
              </a:rPr>
              <a:t>Von den Grundlagen zur Praxis: Unser Orientierungsmodell</a:t>
            </a:r>
            <a:endParaRPr lang="en-US" sz="3600" kern="1200" dirty="0">
              <a:solidFill>
                <a:schemeClr val="tx1"/>
              </a:solidFill>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feld 4">
            <a:extLst>
              <a:ext uri="{FF2B5EF4-FFF2-40B4-BE49-F238E27FC236}">
                <a16:creationId xmlns:a16="http://schemas.microsoft.com/office/drawing/2014/main" id="{F265C6FD-F2AC-AA7E-D417-27C8FD845BED}"/>
              </a:ext>
            </a:extLst>
          </p:cNvPr>
          <p:cNvSpPr txBox="1"/>
          <p:nvPr/>
        </p:nvSpPr>
        <p:spPr>
          <a:xfrm>
            <a:off x="371352" y="2116238"/>
            <a:ext cx="11449295" cy="4361194"/>
          </a:xfrm>
          <a:prstGeom prst="rect">
            <a:avLst/>
          </a:prstGeom>
          <a:noFill/>
        </p:spPr>
        <p:txBody>
          <a:bodyPr wrap="square" rtlCol="0">
            <a:spAutoFit/>
          </a:bodyPr>
          <a:lstStyle/>
          <a:p>
            <a:pPr>
              <a:lnSpc>
                <a:spcPct val="120000"/>
              </a:lnSpc>
              <a:spcAft>
                <a:spcPts val="600"/>
              </a:spcAft>
            </a:pPr>
            <a:r>
              <a:rPr lang="de-DE" sz="2000" b="1" i="1" dirty="0" err="1">
                <a:latin typeface="Calibri" panose="020F0502020204030204" pitchFamily="34" charset="0"/>
                <a:ea typeface="Calibri" panose="020F0502020204030204" pitchFamily="34" charset="0"/>
                <a:cs typeface="Calibri" panose="020F0502020204030204" pitchFamily="34" charset="0"/>
              </a:rPr>
              <a:t>GuTe</a:t>
            </a:r>
            <a:r>
              <a:rPr lang="de-DE" sz="2000" b="1" i="1" dirty="0">
                <a:latin typeface="Calibri" panose="020F0502020204030204" pitchFamily="34" charset="0"/>
                <a:ea typeface="Calibri" panose="020F0502020204030204" pitchFamily="34" charset="0"/>
                <a:cs typeface="Calibri" panose="020F0502020204030204" pitchFamily="34" charset="0"/>
              </a:rPr>
              <a:t> </a:t>
            </a:r>
            <a:r>
              <a:rPr lang="de-DE" sz="2000" b="1" i="1" dirty="0" err="1">
                <a:latin typeface="Calibri" panose="020F0502020204030204" pitchFamily="34" charset="0"/>
                <a:ea typeface="Calibri" panose="020F0502020204030204" pitchFamily="34" charset="0"/>
                <a:cs typeface="Calibri" panose="020F0502020204030204" pitchFamily="34" charset="0"/>
              </a:rPr>
              <a:t>DigiSchulen</a:t>
            </a:r>
            <a:r>
              <a:rPr lang="de-DE" sz="2000" b="1" i="1" dirty="0">
                <a:latin typeface="Calibri" panose="020F0502020204030204" pitchFamily="34" charset="0"/>
                <a:ea typeface="Calibri" panose="020F0502020204030204" pitchFamily="34" charset="0"/>
                <a:cs typeface="Calibri" panose="020F0502020204030204" pitchFamily="34" charset="0"/>
              </a:rPr>
              <a:t> NRW</a:t>
            </a:r>
            <a:r>
              <a:rPr lang="de-DE" sz="2000" b="1" dirty="0">
                <a:latin typeface="Calibri" panose="020F0502020204030204" pitchFamily="34" charset="0"/>
                <a:ea typeface="Calibri" panose="020F0502020204030204" pitchFamily="34" charset="0"/>
                <a:cs typeface="Calibri" panose="020F0502020204030204" pitchFamily="34" charset="0"/>
              </a:rPr>
              <a:t> </a:t>
            </a:r>
            <a:r>
              <a:rPr lang="de-DE" sz="2000" dirty="0">
                <a:latin typeface="Calibri" panose="020F0502020204030204" pitchFamily="34" charset="0"/>
                <a:ea typeface="Calibri" panose="020F0502020204030204" pitchFamily="34" charset="0"/>
                <a:cs typeface="Calibri" panose="020F0502020204030204" pitchFamily="34" charset="0"/>
              </a:rPr>
              <a:t>nennt eine kontinuierlich weiterentwickelte Strategie, feste Arbeitsgruppen, klare Zuständigkeiten und regelmäßige Evaluation als Gelingensbedingungen. Die Schulleitung übernimmt eine Schlüsselrolle, unterstützt die Entwicklung und schafft Verbindlichkeit. Sie delegiert Aufgaben und Zuständigkeiten klar und übernimmt selbst Verantwortung für bestimmte Aufgabenbereiche. Für Digitalisierungsbeauftragte bedeutet dies, ihren Auftrag und Verantwortungsbereich gemeinsam mit der Schulleitung zu klären.</a:t>
            </a:r>
            <a:br>
              <a:rPr lang="de-DE" sz="2000" dirty="0">
                <a:latin typeface="Calibri" panose="020F0502020204030204" pitchFamily="34" charset="0"/>
                <a:ea typeface="Calibri" panose="020F0502020204030204" pitchFamily="34" charset="0"/>
                <a:cs typeface="Calibri" panose="020F0502020204030204" pitchFamily="34" charset="0"/>
              </a:rPr>
            </a:br>
            <a:r>
              <a:rPr lang="de-DE" sz="2000" i="1" dirty="0">
                <a:latin typeface="Calibri" panose="020F0502020204030204" pitchFamily="34" charset="0"/>
                <a:ea typeface="Calibri" panose="020F0502020204030204" pitchFamily="34" charset="0"/>
                <a:cs typeface="Calibri" panose="020F0502020204030204" pitchFamily="34" charset="0"/>
              </a:rPr>
              <a:t>Vgl. Gerick et al. (2023), S. 10 und 26–28; der Bezug auf Digitalisierungsbeauftragte ist eine eigene Ableitung.</a:t>
            </a:r>
            <a:endParaRPr lang="de-DE" sz="2000" dirty="0">
              <a:latin typeface="Calibri" panose="020F0502020204030204" pitchFamily="34" charset="0"/>
              <a:ea typeface="Calibri" panose="020F0502020204030204" pitchFamily="34" charset="0"/>
              <a:cs typeface="Calibri" panose="020F0502020204030204" pitchFamily="34" charset="0"/>
            </a:endParaRPr>
          </a:p>
          <a:p>
            <a:pPr>
              <a:lnSpc>
                <a:spcPct val="120000"/>
              </a:lnSpc>
              <a:spcAft>
                <a:spcPts val="600"/>
              </a:spcAft>
            </a:pPr>
            <a:endParaRPr lang="de-DE" sz="2000" i="1" dirty="0">
              <a:latin typeface="Calibri" panose="020F0502020204030204" pitchFamily="34" charset="0"/>
              <a:ea typeface="Calibri" panose="020F0502020204030204" pitchFamily="34" charset="0"/>
              <a:cs typeface="Calibri" panose="020F0502020204030204" pitchFamily="34" charset="0"/>
            </a:endParaRPr>
          </a:p>
          <a:p>
            <a:pPr>
              <a:lnSpc>
                <a:spcPct val="120000"/>
              </a:lnSpc>
              <a:spcAft>
                <a:spcPts val="600"/>
              </a:spcAft>
            </a:pPr>
            <a:r>
              <a:rPr lang="de-DE" sz="2000" b="1" i="1" dirty="0">
                <a:latin typeface="Calibri" panose="020F0502020204030204" pitchFamily="34" charset="0"/>
                <a:ea typeface="Calibri" panose="020F0502020204030204" pitchFamily="34" charset="0"/>
                <a:cs typeface="Calibri" panose="020F0502020204030204" pitchFamily="34" charset="0"/>
              </a:rPr>
              <a:t>Transfer Guter Praxis</a:t>
            </a:r>
            <a:r>
              <a:rPr lang="de-DE" sz="2000" b="1" dirty="0">
                <a:latin typeface="Calibri" panose="020F0502020204030204" pitchFamily="34" charset="0"/>
                <a:ea typeface="Calibri" panose="020F0502020204030204" pitchFamily="34" charset="0"/>
                <a:cs typeface="Calibri" panose="020F0502020204030204" pitchFamily="34" charset="0"/>
              </a:rPr>
              <a:t> </a:t>
            </a:r>
            <a:r>
              <a:rPr lang="de-DE" sz="2000" dirty="0">
                <a:latin typeface="Calibri" panose="020F0502020204030204" pitchFamily="34" charset="0"/>
                <a:ea typeface="Calibri" panose="020F0502020204030204" pitchFamily="34" charset="0"/>
                <a:cs typeface="Calibri" panose="020F0502020204030204" pitchFamily="34" charset="0"/>
              </a:rPr>
              <a:t>beschreibt, wie erprobte Ansätze durch Umsetzung, Reflexion, Evaluation und Dokumentation weiterentwickelt und anschließend schulisch verankert und verbreitert werden können.</a:t>
            </a:r>
            <a:br>
              <a:rPr lang="de-DE" sz="2000" dirty="0">
                <a:latin typeface="Calibri" panose="020F0502020204030204" pitchFamily="34" charset="0"/>
                <a:ea typeface="Calibri" panose="020F0502020204030204" pitchFamily="34" charset="0"/>
                <a:cs typeface="Calibri" panose="020F0502020204030204" pitchFamily="34" charset="0"/>
              </a:rPr>
            </a:br>
            <a:r>
              <a:rPr lang="de-DE" sz="2000" i="1" dirty="0">
                <a:latin typeface="Calibri" panose="020F0502020204030204" pitchFamily="34" charset="0"/>
                <a:ea typeface="Calibri" panose="020F0502020204030204" pitchFamily="34" charset="0"/>
                <a:cs typeface="Calibri" panose="020F0502020204030204" pitchFamily="34" charset="0"/>
              </a:rPr>
              <a:t>Vgl. Stein, Dehmel &amp; Fauth (2025), S. 24–25.</a:t>
            </a:r>
            <a:endParaRPr lang="de-DE" sz="20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551748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E2814493-EB73-9236-04F0-89F3A481507A}"/>
              </a:ext>
            </a:extLst>
          </p:cNvPr>
          <p:cNvSpPr txBox="1"/>
          <p:nvPr/>
        </p:nvSpPr>
        <p:spPr>
          <a:xfrm>
            <a:off x="337457" y="1175596"/>
            <a:ext cx="11647714" cy="5278368"/>
          </a:xfrm>
          <a:prstGeom prst="rect">
            <a:avLst/>
          </a:prstGeom>
          <a:noFill/>
        </p:spPr>
        <p:txBody>
          <a:bodyPr wrap="square">
            <a:spAutoFit/>
          </a:bodyPr>
          <a:lstStyle/>
          <a:p>
            <a:pPr>
              <a:buNone/>
            </a:pPr>
            <a:r>
              <a:rPr lang="de-DE" sz="3600" b="1" dirty="0">
                <a:latin typeface="Calibri Light" panose="020F0302020204030204" pitchFamily="34" charset="0"/>
                <a:ea typeface="Calibri Light" panose="020F0302020204030204" pitchFamily="34" charset="0"/>
                <a:cs typeface="Calibri Light" panose="020F0302020204030204" pitchFamily="34" charset="0"/>
              </a:rPr>
              <a:t>Die Logik des Orientierungsmodells</a:t>
            </a:r>
          </a:p>
          <a:p>
            <a:r>
              <a:rPr lang="de-DE" sz="3600" b="1" dirty="0">
                <a:latin typeface="Calibri" panose="020F0502020204030204" pitchFamily="34" charset="0"/>
                <a:ea typeface="Calibri" panose="020F0502020204030204" pitchFamily="34" charset="0"/>
                <a:cs typeface="Calibri" panose="020F0502020204030204" pitchFamily="34" charset="0"/>
              </a:rPr>
              <a:t> </a:t>
            </a:r>
          </a:p>
          <a:p>
            <a:r>
              <a:rPr lang="de-DE" sz="2000" b="1" dirty="0">
                <a:latin typeface="Calibri Light" panose="020F0302020204030204" pitchFamily="34" charset="0"/>
                <a:ea typeface="Calibri Light" panose="020F0302020204030204" pitchFamily="34" charset="0"/>
                <a:cs typeface="Calibri Light" panose="020F0302020204030204" pitchFamily="34" charset="0"/>
              </a:rPr>
              <a:t>Von ressourcenorientierter Pilotierung </a:t>
            </a:r>
            <a:br>
              <a:rPr lang="de-DE" sz="2000" b="1" dirty="0">
                <a:latin typeface="Calibri Light" panose="020F0302020204030204" pitchFamily="34" charset="0"/>
                <a:ea typeface="Calibri Light" panose="020F0302020204030204" pitchFamily="34" charset="0"/>
                <a:cs typeface="Calibri Light" panose="020F0302020204030204" pitchFamily="34" charset="0"/>
              </a:rPr>
            </a:br>
            <a:r>
              <a:rPr lang="de-DE" sz="2000" b="1" dirty="0">
                <a:latin typeface="Calibri Light" panose="020F0302020204030204" pitchFamily="34" charset="0"/>
                <a:ea typeface="Calibri Light" panose="020F0302020204030204" pitchFamily="34" charset="0"/>
                <a:cs typeface="Calibri Light" panose="020F0302020204030204" pitchFamily="34" charset="0"/>
              </a:rPr>
              <a:t>zu zielorientierter Etablierung: </a:t>
            </a:r>
          </a:p>
          <a:p>
            <a:pPr>
              <a:lnSpc>
                <a:spcPct val="100000"/>
              </a:lnSpc>
            </a:pPr>
            <a:endParaRPr lang="de-DE"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de-DE"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endParaRPr lang="de-DE" sz="2000" dirty="0">
              <a:latin typeface="Calibri" panose="020F0502020204030204" pitchFamily="34" charset="0"/>
              <a:ea typeface="Calibri" panose="020F0502020204030204" pitchFamily="34" charset="0"/>
              <a:cs typeface="Calibri" panose="020F0502020204030204" pitchFamily="34" charset="0"/>
            </a:endParaRPr>
          </a:p>
          <a:p>
            <a:pPr>
              <a:lnSpc>
                <a:spcPct val="100000"/>
              </a:lnSpc>
            </a:pPr>
            <a:r>
              <a:rPr lang="de-DE" sz="2000" dirty="0">
                <a:latin typeface="Calibri" panose="020F0502020204030204" pitchFamily="34" charset="0"/>
                <a:ea typeface="Calibri" panose="020F0502020204030204" pitchFamily="34" charset="0"/>
                <a:cs typeface="Calibri" panose="020F0502020204030204" pitchFamily="34" charset="0"/>
              </a:rPr>
              <a:t>Je offener der Weg und die geeignete Lösung noch sind, desto wichtiger ist es, mit vorhandenen Personen, Kompetenzen und Möglichkeiten zu beginnen, überschaubar zu erproben, aus den Erfahrungen zu lernen und daraus abzuleiten, was für eine dauerhafte Verankerung benötigt wird.</a:t>
            </a:r>
          </a:p>
          <a:p>
            <a:pPr>
              <a:lnSpc>
                <a:spcPct val="100000"/>
              </a:lnSpc>
            </a:pPr>
            <a:r>
              <a:rPr lang="de-DE" sz="1000" dirty="0">
                <a:latin typeface="Calibri" panose="020F0502020204030204" pitchFamily="34" charset="0"/>
                <a:ea typeface="Calibri" panose="020F0502020204030204" pitchFamily="34" charset="0"/>
                <a:cs typeface="Calibri" panose="020F0502020204030204" pitchFamily="34" charset="0"/>
              </a:rPr>
              <a:t> </a:t>
            </a:r>
          </a:p>
          <a:p>
            <a:pPr>
              <a:lnSpc>
                <a:spcPct val="100000"/>
              </a:lnSpc>
              <a:spcAft>
                <a:spcPts val="600"/>
              </a:spcAft>
            </a:pPr>
            <a:r>
              <a:rPr lang="de-DE" sz="2000" b="1" dirty="0">
                <a:latin typeface="Calibri" panose="020F0502020204030204" pitchFamily="34" charset="0"/>
                <a:ea typeface="Calibri" panose="020F0502020204030204" pitchFamily="34" charset="0"/>
                <a:cs typeface="Calibri" panose="020F0502020204030204" pitchFamily="34" charset="0"/>
              </a:rPr>
              <a:t>Ausgangspunkt: </a:t>
            </a:r>
          </a:p>
          <a:p>
            <a:pPr marL="342900" indent="-342900">
              <a:lnSpc>
                <a:spcPct val="100000"/>
              </a:lnSpc>
              <a:spcAft>
                <a:spcPts val="600"/>
              </a:spcAft>
              <a:buFont typeface="Arial" panose="020B0604020202020204" pitchFamily="34" charset="0"/>
              <a:buChar char="•"/>
            </a:pPr>
            <a:r>
              <a:rPr lang="de-DE" sz="2000" dirty="0">
                <a:latin typeface="Calibri" panose="020F0502020204030204" pitchFamily="34" charset="0"/>
                <a:ea typeface="Calibri" panose="020F0502020204030204" pitchFamily="34" charset="0"/>
                <a:cs typeface="Calibri" panose="020F0502020204030204" pitchFamily="34" charset="0"/>
              </a:rPr>
              <a:t>Schulentwicklung als komplexer und offener Entwicklungsprozess </a:t>
            </a:r>
          </a:p>
          <a:p>
            <a:pPr marL="342900" indent="-342900">
              <a:lnSpc>
                <a:spcPct val="100000"/>
              </a:lnSpc>
              <a:spcAft>
                <a:spcPts val="600"/>
              </a:spcAft>
              <a:buFont typeface="Arial" panose="020B0604020202020204" pitchFamily="34" charset="0"/>
              <a:buChar char="•"/>
            </a:pPr>
            <a:r>
              <a:rPr lang="de-DE" sz="2000" dirty="0">
                <a:latin typeface="Calibri" panose="020F0502020204030204" pitchFamily="34" charset="0"/>
                <a:ea typeface="Calibri" panose="020F0502020204030204" pitchFamily="34" charset="0"/>
                <a:cs typeface="Calibri" panose="020F0502020204030204" pitchFamily="34" charset="0"/>
              </a:rPr>
              <a:t>Entwicklung als lernender und partizipativer Prozess</a:t>
            </a:r>
          </a:p>
          <a:p>
            <a:pPr marL="342900" indent="-342900">
              <a:lnSpc>
                <a:spcPct val="100000"/>
              </a:lnSpc>
              <a:spcAft>
                <a:spcPts val="600"/>
              </a:spcAft>
              <a:buFont typeface="Arial" panose="020B0604020202020204" pitchFamily="34" charset="0"/>
              <a:buChar char="•"/>
            </a:pPr>
            <a:r>
              <a:rPr lang="de-DE" sz="2000" dirty="0">
                <a:latin typeface="Calibri" panose="020F0502020204030204" pitchFamily="34" charset="0"/>
                <a:ea typeface="Calibri" panose="020F0502020204030204" pitchFamily="34" charset="0"/>
                <a:cs typeface="Calibri" panose="020F0502020204030204" pitchFamily="34" charset="0"/>
              </a:rPr>
              <a:t>Handeln und Lernen statt vollständiger Vorausplanung</a:t>
            </a:r>
          </a:p>
        </p:txBody>
      </p:sp>
      <p:pic>
        <p:nvPicPr>
          <p:cNvPr id="6" name="Grafik 5">
            <a:extLst>
              <a:ext uri="{FF2B5EF4-FFF2-40B4-BE49-F238E27FC236}">
                <a16:creationId xmlns:a16="http://schemas.microsoft.com/office/drawing/2014/main" id="{02B1BED4-DA04-37E1-A109-49236C0EC361}"/>
              </a:ext>
            </a:extLst>
          </p:cNvPr>
          <p:cNvPicPr>
            <a:picLocks noChangeAspect="1"/>
          </p:cNvPicPr>
          <p:nvPr/>
        </p:nvPicPr>
        <p:blipFill>
          <a:blip r:embed="rId2"/>
          <a:stretch>
            <a:fillRect/>
          </a:stretch>
        </p:blipFill>
        <p:spPr>
          <a:xfrm>
            <a:off x="10234098" y="5412120"/>
            <a:ext cx="754280" cy="540567"/>
          </a:xfrm>
          <a:prstGeom prst="rect">
            <a:avLst/>
          </a:prstGeom>
        </p:spPr>
      </p:pic>
      <p:pic>
        <p:nvPicPr>
          <p:cNvPr id="8" name="Grafik 7" descr="The image depicts a simple, white circle with a spiral pattern inside, accompanied by a small arrow pointing to the right.&#10;&#10;KI-generierte Inhalte können fehlerhaft sein.">
            <a:extLst>
              <a:ext uri="{FF2B5EF4-FFF2-40B4-BE49-F238E27FC236}">
                <a16:creationId xmlns:a16="http://schemas.microsoft.com/office/drawing/2014/main" id="{22C8911B-9D6C-D9E0-658C-6D4870C44394}"/>
              </a:ext>
            </a:extLst>
          </p:cNvPr>
          <p:cNvPicPr>
            <a:picLocks noChangeAspect="1"/>
          </p:cNvPicPr>
          <p:nvPr/>
        </p:nvPicPr>
        <p:blipFill>
          <a:blip r:embed="rId3"/>
          <a:stretch>
            <a:fillRect/>
          </a:stretch>
        </p:blipFill>
        <p:spPr>
          <a:xfrm>
            <a:off x="8403396" y="5069802"/>
            <a:ext cx="1021004" cy="1225204"/>
          </a:xfrm>
          <a:prstGeom prst="rect">
            <a:avLst/>
          </a:prstGeom>
        </p:spPr>
      </p:pic>
      <p:pic>
        <p:nvPicPr>
          <p:cNvPr id="4" name="Grafik 3" descr="The image depicts a visual representation of a process where educational development is being digitized and guided in an agile manner, emphasizing the implementation of a visionary educational practice.&#10;&#10;KI-generierte Inhalte können fehlerhaft sein.">
            <a:extLst>
              <a:ext uri="{FF2B5EF4-FFF2-40B4-BE49-F238E27FC236}">
                <a16:creationId xmlns:a16="http://schemas.microsoft.com/office/drawing/2014/main" id="{4301A6F8-CB32-6174-2825-96CF483259D7}"/>
              </a:ext>
            </a:extLst>
          </p:cNvPr>
          <p:cNvPicPr>
            <a:picLocks noChangeAspect="1"/>
          </p:cNvPicPr>
          <p:nvPr/>
        </p:nvPicPr>
        <p:blipFill>
          <a:blip r:embed="rId4"/>
          <a:stretch>
            <a:fillRect/>
          </a:stretch>
        </p:blipFill>
        <p:spPr>
          <a:xfrm>
            <a:off x="4990095" y="2165285"/>
            <a:ext cx="6826601" cy="863644"/>
          </a:xfrm>
          <a:prstGeom prst="rect">
            <a:avLst/>
          </a:prstGeom>
        </p:spPr>
      </p:pic>
      <p:pic>
        <p:nvPicPr>
          <p:cNvPr id="9" name="Grafik 8" descr="Schulleitung&#10;&#10;KI-generierte Inhalte können fehlerhaft sein.">
            <a:extLst>
              <a:ext uri="{FF2B5EF4-FFF2-40B4-BE49-F238E27FC236}">
                <a16:creationId xmlns:a16="http://schemas.microsoft.com/office/drawing/2014/main" id="{E9373679-336F-E5ED-A297-BCEFD653B63A}"/>
              </a:ext>
            </a:extLst>
          </p:cNvPr>
          <p:cNvPicPr>
            <a:picLocks noChangeAspect="1"/>
          </p:cNvPicPr>
          <p:nvPr/>
        </p:nvPicPr>
        <p:blipFill>
          <a:blip r:embed="rId5"/>
          <a:stretch>
            <a:fillRect/>
          </a:stretch>
        </p:blipFill>
        <p:spPr>
          <a:xfrm>
            <a:off x="6527977" y="3028929"/>
            <a:ext cx="4083260" cy="400071"/>
          </a:xfrm>
          <a:prstGeom prst="rect">
            <a:avLst/>
          </a:prstGeom>
        </p:spPr>
      </p:pic>
    </p:spTree>
    <p:extLst>
      <p:ext uri="{BB962C8B-B14F-4D97-AF65-F5344CB8AC3E}">
        <p14:creationId xmlns:p14="http://schemas.microsoft.com/office/powerpoint/2010/main" val="4050779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D6F0B90B-9029-4CEE-9C79-D630DE6033BA}"/>
            </a:ext>
          </a:extLst>
        </p:cNvPr>
        <p:cNvGrpSpPr/>
        <p:nvPr/>
      </p:nvGrpSpPr>
      <p:grpSpPr>
        <a:xfrm>
          <a:off x="0" y="0"/>
          <a:ext cx="0" cy="0"/>
          <a:chOff x="0" y="0"/>
          <a:chExt cx="0" cy="0"/>
        </a:xfrm>
      </p:grpSpPr>
      <p:pic>
        <p:nvPicPr>
          <p:cNvPr id="4" name="Grafik 3" descr="The diagram illustrates a process for initiating and guiding digitalization in educational development, detailing steps such as vision, evaluation, implementation, and pilot testing, with emphasis on collaboration, feasibility, and school leadership.&#10;&#10;KI-generierte Inhalte können fehlerhaft sein.">
            <a:extLst>
              <a:ext uri="{FF2B5EF4-FFF2-40B4-BE49-F238E27FC236}">
                <a16:creationId xmlns:a16="http://schemas.microsoft.com/office/drawing/2014/main" id="{024D2EE0-C8A3-9733-05B7-A762DF4B3F2A}"/>
              </a:ext>
            </a:extLst>
          </p:cNvPr>
          <p:cNvPicPr>
            <a:picLocks noChangeAspect="1"/>
          </p:cNvPicPr>
          <p:nvPr/>
        </p:nvPicPr>
        <p:blipFill>
          <a:blip r:embed="rId2"/>
          <a:stretch>
            <a:fillRect/>
          </a:stretch>
        </p:blipFill>
        <p:spPr>
          <a:xfrm>
            <a:off x="4572000" y="0"/>
            <a:ext cx="7620000" cy="5902719"/>
          </a:xfrm>
          <a:prstGeom prst="rect">
            <a:avLst/>
          </a:prstGeom>
        </p:spPr>
      </p:pic>
      <p:sp>
        <p:nvSpPr>
          <p:cNvPr id="8" name="Textfeld 7">
            <a:extLst>
              <a:ext uri="{FF2B5EF4-FFF2-40B4-BE49-F238E27FC236}">
                <a16:creationId xmlns:a16="http://schemas.microsoft.com/office/drawing/2014/main" id="{244C1D51-500D-B5E6-0DE9-B0BF4864F73E}"/>
              </a:ext>
            </a:extLst>
          </p:cNvPr>
          <p:cNvSpPr txBox="1"/>
          <p:nvPr/>
        </p:nvSpPr>
        <p:spPr>
          <a:xfrm>
            <a:off x="248517" y="122725"/>
            <a:ext cx="6096000" cy="954107"/>
          </a:xfrm>
          <a:prstGeom prst="rect">
            <a:avLst/>
          </a:prstGeom>
          <a:noFill/>
        </p:spPr>
        <p:txBody>
          <a:bodyPr wrap="square">
            <a:spAutoFit/>
          </a:bodyPr>
          <a:lstStyle/>
          <a:p>
            <a:pPr>
              <a:buNone/>
            </a:pPr>
            <a:r>
              <a:rPr lang="de-DE" sz="2800" dirty="0">
                <a:latin typeface="Calibri Light" panose="020F0302020204030204" pitchFamily="34" charset="0"/>
                <a:ea typeface="Calibri Light" panose="020F0302020204030204" pitchFamily="34" charset="0"/>
                <a:cs typeface="Calibri Light" panose="020F0302020204030204" pitchFamily="34" charset="0"/>
              </a:rPr>
              <a:t>Das Orientierungsmodell </a:t>
            </a:r>
          </a:p>
          <a:p>
            <a:pPr>
              <a:buNone/>
            </a:pPr>
            <a:r>
              <a:rPr lang="de-DE" sz="2800" dirty="0">
                <a:latin typeface="Calibri Light" panose="020F0302020204030204" pitchFamily="34" charset="0"/>
                <a:ea typeface="Calibri Light" panose="020F0302020204030204" pitchFamily="34" charset="0"/>
                <a:cs typeface="Calibri Light" panose="020F0302020204030204" pitchFamily="34" charset="0"/>
              </a:rPr>
              <a:t>im Überblick</a:t>
            </a:r>
          </a:p>
        </p:txBody>
      </p:sp>
      <p:sp>
        <p:nvSpPr>
          <p:cNvPr id="12" name="Textfeld 11">
            <a:extLst>
              <a:ext uri="{FF2B5EF4-FFF2-40B4-BE49-F238E27FC236}">
                <a16:creationId xmlns:a16="http://schemas.microsoft.com/office/drawing/2014/main" id="{0A60FF57-F7AB-B5F7-3BFB-3C17BB8056A6}"/>
              </a:ext>
            </a:extLst>
          </p:cNvPr>
          <p:cNvSpPr txBox="1"/>
          <p:nvPr/>
        </p:nvSpPr>
        <p:spPr>
          <a:xfrm>
            <a:off x="4729024" y="6088944"/>
            <a:ext cx="7305952" cy="646331"/>
          </a:xfrm>
          <a:prstGeom prst="rect">
            <a:avLst/>
          </a:prstGeom>
          <a:noFill/>
        </p:spPr>
        <p:txBody>
          <a:bodyPr wrap="square">
            <a:spAutoFit/>
          </a:bodyPr>
          <a:lstStyle/>
          <a:p>
            <a:pPr algn="ctr"/>
            <a:r>
              <a:rPr lang="de-DE" dirty="0">
                <a:latin typeface="Calibri" panose="020F0502020204030204" pitchFamily="34" charset="0"/>
                <a:ea typeface="Calibri" panose="020F0502020204030204" pitchFamily="34" charset="0"/>
                <a:cs typeface="Calibri" panose="020F0502020204030204" pitchFamily="34" charset="0"/>
              </a:rPr>
              <a:t>Das Modell begleitet Schulentwicklung als </a:t>
            </a:r>
            <a:r>
              <a:rPr lang="de-DE" b="1" dirty="0">
                <a:latin typeface="Calibri" panose="020F0502020204030204" pitchFamily="34" charset="0"/>
                <a:ea typeface="Calibri" panose="020F0502020204030204" pitchFamily="34" charset="0"/>
                <a:cs typeface="Calibri" panose="020F0502020204030204" pitchFamily="34" charset="0"/>
              </a:rPr>
              <a:t>agilen</a:t>
            </a:r>
            <a:r>
              <a:rPr lang="de-DE" dirty="0">
                <a:latin typeface="Calibri" panose="020F0502020204030204" pitchFamily="34" charset="0"/>
                <a:ea typeface="Calibri" panose="020F0502020204030204" pitchFamily="34" charset="0"/>
                <a:cs typeface="Calibri" panose="020F0502020204030204" pitchFamily="34" charset="0"/>
              </a:rPr>
              <a:t> Prozess: </a:t>
            </a:r>
            <a:br>
              <a:rPr lang="de-DE" dirty="0">
                <a:latin typeface="Calibri" panose="020F0502020204030204" pitchFamily="34" charset="0"/>
                <a:ea typeface="Calibri" panose="020F0502020204030204" pitchFamily="34" charset="0"/>
                <a:cs typeface="Calibri" panose="020F0502020204030204" pitchFamily="34" charset="0"/>
              </a:rPr>
            </a:br>
            <a:r>
              <a:rPr lang="de-DE" dirty="0">
                <a:latin typeface="Calibri" panose="020F0502020204030204" pitchFamily="34" charset="0"/>
                <a:ea typeface="Calibri" panose="020F0502020204030204" pitchFamily="34" charset="0"/>
                <a:cs typeface="Calibri" panose="020F0502020204030204" pitchFamily="34" charset="0"/>
              </a:rPr>
              <a:t>Erfahrungen aus der Umsetzung fließen laufend in die weitere Planung ein.</a:t>
            </a:r>
          </a:p>
        </p:txBody>
      </p:sp>
      <p:sp>
        <p:nvSpPr>
          <p:cNvPr id="14" name="Textfeld 13">
            <a:extLst>
              <a:ext uri="{FF2B5EF4-FFF2-40B4-BE49-F238E27FC236}">
                <a16:creationId xmlns:a16="http://schemas.microsoft.com/office/drawing/2014/main" id="{12346581-3EFA-D753-74E9-6F6BCDBE0299}"/>
              </a:ext>
            </a:extLst>
          </p:cNvPr>
          <p:cNvSpPr txBox="1"/>
          <p:nvPr/>
        </p:nvSpPr>
        <p:spPr>
          <a:xfrm>
            <a:off x="248517" y="1466934"/>
            <a:ext cx="4195467" cy="3693319"/>
          </a:xfrm>
          <a:prstGeom prst="rect">
            <a:avLst/>
          </a:prstGeom>
          <a:noFill/>
        </p:spPr>
        <p:txBody>
          <a:bodyPr wrap="square">
            <a:spAutoFit/>
          </a:bodyPr>
          <a:lstStyle/>
          <a:p>
            <a:pPr>
              <a:buNone/>
            </a:pPr>
            <a:r>
              <a:rPr lang="de-DE" b="1" dirty="0">
                <a:latin typeface="Calibri" panose="020F0502020204030204" pitchFamily="34" charset="0"/>
                <a:ea typeface="Calibri" panose="020F0502020204030204" pitchFamily="34" charset="0"/>
                <a:cs typeface="Calibri" panose="020F0502020204030204" pitchFamily="34" charset="0"/>
              </a:rPr>
              <a:t>Von der Vision zur gelebten Schulpraxis:</a:t>
            </a:r>
          </a:p>
          <a:p>
            <a:pPr>
              <a:buNone/>
            </a:pPr>
            <a:endParaRPr lang="de-DE"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de-DE" b="1" dirty="0">
                <a:latin typeface="Calibri" panose="020F0502020204030204" pitchFamily="34" charset="0"/>
                <a:ea typeface="Calibri" panose="020F0502020204030204" pitchFamily="34" charset="0"/>
                <a:cs typeface="Calibri" panose="020F0502020204030204" pitchFamily="34" charset="0"/>
              </a:rPr>
              <a:t>Orientierung schaffen:</a:t>
            </a:r>
            <a:r>
              <a:rPr lang="de-DE" dirty="0">
                <a:latin typeface="Calibri" panose="020F0502020204030204" pitchFamily="34" charset="0"/>
                <a:ea typeface="Calibri" panose="020F0502020204030204" pitchFamily="34" charset="0"/>
                <a:cs typeface="Calibri" panose="020F0502020204030204" pitchFamily="34" charset="0"/>
              </a:rPr>
              <a:t> </a:t>
            </a:r>
            <a:br>
              <a:rPr lang="de-DE" dirty="0">
                <a:latin typeface="Calibri" panose="020F0502020204030204" pitchFamily="34" charset="0"/>
                <a:ea typeface="Calibri" panose="020F0502020204030204" pitchFamily="34" charset="0"/>
                <a:cs typeface="Calibri" panose="020F0502020204030204" pitchFamily="34" charset="0"/>
              </a:rPr>
            </a:br>
            <a:r>
              <a:rPr lang="de-DE" dirty="0">
                <a:latin typeface="Calibri" panose="020F0502020204030204" pitchFamily="34" charset="0"/>
                <a:ea typeface="Calibri" panose="020F0502020204030204" pitchFamily="34" charset="0"/>
                <a:cs typeface="Calibri" panose="020F0502020204030204" pitchFamily="34" charset="0"/>
              </a:rPr>
              <a:t>Ziele, Ressourcen, Steuerung und Beteiligung klären.</a:t>
            </a:r>
          </a:p>
          <a:p>
            <a:pPr marL="342900" lvl="0" indent="-342900">
              <a:buFont typeface="Arial" panose="020B0604020202020204" pitchFamily="34" charset="0"/>
              <a:buChar char="•"/>
            </a:pPr>
            <a:endParaRPr lang="de-DE"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de-DE" b="1" dirty="0">
                <a:latin typeface="Calibri" panose="020F0502020204030204" pitchFamily="34" charset="0"/>
                <a:ea typeface="Calibri" panose="020F0502020204030204" pitchFamily="34" charset="0"/>
                <a:cs typeface="Calibri" panose="020F0502020204030204" pitchFamily="34" charset="0"/>
              </a:rPr>
              <a:t>Im Kleinen erproben:</a:t>
            </a:r>
            <a:r>
              <a:rPr lang="de-DE" dirty="0">
                <a:latin typeface="Calibri" panose="020F0502020204030204" pitchFamily="34" charset="0"/>
                <a:ea typeface="Calibri" panose="020F0502020204030204" pitchFamily="34" charset="0"/>
                <a:cs typeface="Calibri" panose="020F0502020204030204" pitchFamily="34" charset="0"/>
              </a:rPr>
              <a:t> </a:t>
            </a:r>
            <a:br>
              <a:rPr lang="de-DE" dirty="0">
                <a:latin typeface="Calibri" panose="020F0502020204030204" pitchFamily="34" charset="0"/>
                <a:ea typeface="Calibri" panose="020F0502020204030204" pitchFamily="34" charset="0"/>
                <a:cs typeface="Calibri" panose="020F0502020204030204" pitchFamily="34" charset="0"/>
              </a:rPr>
            </a:br>
            <a:r>
              <a:rPr lang="de-DE" dirty="0">
                <a:latin typeface="Calibri" panose="020F0502020204030204" pitchFamily="34" charset="0"/>
                <a:ea typeface="Calibri" panose="020F0502020204030204" pitchFamily="34" charset="0"/>
                <a:cs typeface="Calibri" panose="020F0502020204030204" pitchFamily="34" charset="0"/>
              </a:rPr>
              <a:t>Vorhaben gemeinsam planen, umsetzen und auswerten.</a:t>
            </a:r>
          </a:p>
          <a:p>
            <a:pPr marL="342900" lvl="0" indent="-342900">
              <a:buFont typeface="Arial" panose="020B0604020202020204" pitchFamily="34" charset="0"/>
              <a:buChar char="•"/>
            </a:pPr>
            <a:endParaRPr lang="de-DE" dirty="0">
              <a:latin typeface="Calibri" panose="020F0502020204030204" pitchFamily="34" charset="0"/>
              <a:ea typeface="Calibri" panose="020F0502020204030204" pitchFamily="34" charset="0"/>
              <a:cs typeface="Calibri" panose="020F0502020204030204" pitchFamily="34" charset="0"/>
            </a:endParaRPr>
          </a:p>
          <a:p>
            <a:pPr marL="342900" lvl="0" indent="-342900">
              <a:buFont typeface="Arial" panose="020B0604020202020204" pitchFamily="34" charset="0"/>
              <a:buChar char="•"/>
            </a:pPr>
            <a:r>
              <a:rPr lang="de-DE" b="1" dirty="0">
                <a:latin typeface="Calibri" panose="020F0502020204030204" pitchFamily="34" charset="0"/>
                <a:ea typeface="Calibri" panose="020F0502020204030204" pitchFamily="34" charset="0"/>
                <a:cs typeface="Calibri" panose="020F0502020204030204" pitchFamily="34" charset="0"/>
              </a:rPr>
              <a:t>In der Schule verankern:</a:t>
            </a:r>
            <a:r>
              <a:rPr lang="de-DE" dirty="0">
                <a:latin typeface="Calibri" panose="020F0502020204030204" pitchFamily="34" charset="0"/>
                <a:ea typeface="Calibri" panose="020F0502020204030204" pitchFamily="34" charset="0"/>
                <a:cs typeface="Calibri" panose="020F0502020204030204" pitchFamily="34" charset="0"/>
              </a:rPr>
              <a:t> </a:t>
            </a:r>
            <a:br>
              <a:rPr lang="de-DE" dirty="0">
                <a:latin typeface="Calibri" panose="020F0502020204030204" pitchFamily="34" charset="0"/>
                <a:ea typeface="Calibri" panose="020F0502020204030204" pitchFamily="34" charset="0"/>
                <a:cs typeface="Calibri" panose="020F0502020204030204" pitchFamily="34" charset="0"/>
              </a:rPr>
            </a:br>
            <a:r>
              <a:rPr lang="de-DE" dirty="0">
                <a:latin typeface="Calibri" panose="020F0502020204030204" pitchFamily="34" charset="0"/>
                <a:ea typeface="Calibri" panose="020F0502020204030204" pitchFamily="34" charset="0"/>
                <a:cs typeface="Calibri" panose="020F0502020204030204" pitchFamily="34" charset="0"/>
              </a:rPr>
              <a:t>Bewährte Ansätze weiterentwickeln und dauerhaft etablieren.</a:t>
            </a:r>
          </a:p>
        </p:txBody>
      </p:sp>
    </p:spTree>
    <p:extLst>
      <p:ext uri="{BB962C8B-B14F-4D97-AF65-F5344CB8AC3E}">
        <p14:creationId xmlns:p14="http://schemas.microsoft.com/office/powerpoint/2010/main" val="2702578125"/>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enutzerdefiniertes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Bjorn</Template>
  <TotalTime>0</TotalTime>
  <Words>1564</Words>
  <Application>Microsoft Office PowerPoint</Application>
  <PresentationFormat>Breitbild</PresentationFormat>
  <Paragraphs>139</Paragraphs>
  <Slides>17</Slides>
  <Notes>8</Notes>
  <HiddenSlides>0</HiddenSlides>
  <MMClips>0</MMClips>
  <ScaleCrop>false</ScaleCrop>
  <HeadingPairs>
    <vt:vector size="6" baseType="variant">
      <vt:variant>
        <vt:lpstr>Verwendete Schriftarten</vt:lpstr>
      </vt:variant>
      <vt:variant>
        <vt:i4>4</vt:i4>
      </vt:variant>
      <vt:variant>
        <vt:lpstr>Design</vt:lpstr>
      </vt:variant>
      <vt:variant>
        <vt:i4>2</vt:i4>
      </vt:variant>
      <vt:variant>
        <vt:lpstr>Folientitel</vt:lpstr>
      </vt:variant>
      <vt:variant>
        <vt:i4>17</vt:i4>
      </vt:variant>
    </vt:vector>
  </HeadingPairs>
  <TitlesOfParts>
    <vt:vector size="23" baseType="lpstr">
      <vt:lpstr>Arial</vt:lpstr>
      <vt:lpstr>Calibri</vt:lpstr>
      <vt:lpstr>Calibri Light</vt:lpstr>
      <vt:lpstr>Linux Biolinum</vt:lpstr>
      <vt:lpstr>Office</vt:lpstr>
      <vt:lpstr>Benutzerdefiniertes Design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Ein möglicher Ansatz: Arbeiten mit ‚Schnellbooten‘ (Pilotierung)</vt:lpstr>
      <vt:lpstr>Von den Grundlagen zur Praxis: Unser Orientierungsmodell</vt:lpstr>
      <vt:lpstr>PowerPoint-Präsentation</vt:lpstr>
      <vt:lpstr>PowerPoint-Präsentation</vt:lpstr>
    </vt:vector>
  </TitlesOfParts>
  <Company>Bezirksregierung Köln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Mehlem, Anne</dc:creator>
  <cp:lastModifiedBy>Kai Bennemann</cp:lastModifiedBy>
  <cp:revision>41</cp:revision>
  <dcterms:created xsi:type="dcterms:W3CDTF">2023-10-10T14:39:58Z</dcterms:created>
  <dcterms:modified xsi:type="dcterms:W3CDTF">2026-10-10T10:22:29Z</dcterms:modified>
</cp:coreProperties>
</file>